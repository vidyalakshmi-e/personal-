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One sentence: this system takes a raw network flow and returns an explained, prioritised incident report, with a human approving any containment. The strip below is the real agent workflow from our architecture diagram; we will walk through it in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Frame the pain: hundreds of alerts per shift, most of them noise, each taking half an hour to investigate by hand. The target is under five seconds, with the safety constraint that an LLM must never act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Walk top to bottom. Interface and API are standard: React and Streamlit call FastAPI, which handles auth, guardrails and tracing. LangGraph owns the workflow. The intelligence layer is where the three kinds of AI live: classical ML, retrieval, and an LLM. Everything persists in a relational database plus an embedded Qdrant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This is the reference diagram from the repo. Do not read it out. Point to the lifecycle on the right: Detect, Analyse, Investigate, Respond, Report, and note the ten components map onto the layers we just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This is the core slide. The analyst clicks Investigate, which posts to the analyze endpoint. A shared IncidentState flows through six LangGraph nodes. Validate can short-circuit straight to the final gate if input is invalid. Detect runs the three models plus SHAP. Analyse retrieves similar past incidents. Score applies the weighted formula. Respond asks the LLM for a report and playbook. Verify runs six output checks before anything reaches the analyst.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Three engines. Detect: three complementary models, so the system catches known families, calibrates intrusion risk, and flags zero-day anomalies, with SHAP explaining each prediction. Retrieve: dense plus keyword search; hybrid beats either alone and reaches 98% precision at one. Respond: a provider chain, so an outage degrades gracefully down to offline playbooks instead of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The score is a transparent weighted sum, not a black box: attack severity times confidence 40, calibrated intrusion probability 25, anomaly 15, traffic indicators 20, plus a small plus-or-minus six point nudge from retrieval agreement. Policy floors guarantee that confident Heartbleed or Infiltration is always Critical. Thresholds: 75, 55,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Four guardrail layers: input schema, prompt-injection filtering, structured output checks and evidence-reference checks that reject invented incident IDs. The hard rule is on the right: nothing destructive is executed without an analyst. Below that, the feedback loop: analyst verdicts re-embed the case into Qdrant and trigger retraining when models drift. Every request carries a trace ID with span timings.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Headline numbers, all measured on held-out data. Classifier accuracy 99 percent with macro-F1 0.95. Intrusion model ROC-AUC 0.997. Retrieval precision at one 98.4 percent, leave-one-out. An independent judge model found zero hallucinations and 100 percent answer relevancy. Caveat to volunteer: judge scores are signals, not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Be upfront about limits: rare classes like Heartbleed and Infiltration have very few training flows, so we rely on policy floors; embedded Qdrant is single-process; judge scores are signals. To run: setup.bat once, start.bat after. Three roles: analyst, admin, viewer.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777240"/>
            <a:ext cx="10241280" cy="1737360"/>
          </a:xfrm>
          <a:prstGeom prst="rect">
            <a:avLst/>
          </a:prstGeom>
          <a:noFill/>
          <a:ln/>
        </p:spPr>
        <p:txBody>
          <a:bodyPr wrap="square" lIns="0" tIns="0" rIns="0" bIns="0" rtlCol="0" anchor="t"/>
          <a:lstStyle/>
          <a:p>
            <a:pPr algn="l" indent="0" marL="0">
              <a:lnSpc>
                <a:spcPts val="5200"/>
              </a:lnSpc>
              <a:buNone/>
            </a:pPr>
            <a:r>
              <a:rPr lang="en-US" sz="4800" spc="-100" kern="0" dirty="0">
                <a:solidFill>
                  <a:srgbClr val="18181B"/>
                </a:solidFill>
                <a:latin typeface="Bahnschrift SemiBold" pitchFamily="34" charset="0"/>
                <a:ea typeface="Bahnschrift SemiBold" pitchFamily="34" charset="-122"/>
                <a:cs typeface="Bahnschrift SemiBold" pitchFamily="34" charset="-120"/>
              </a:rPr>
              <a:t>AI-Powered Cybersecurity</a:t>
            </a:r>
            <a:endParaRPr lang="en-US" sz="4800" dirty="0"/>
          </a:p>
          <a:p>
            <a:pPr algn="l" indent="0" marL="0">
              <a:lnSpc>
                <a:spcPts val="5200"/>
              </a:lnSpc>
              <a:buNone/>
            </a:pPr>
            <a:r>
              <a:rPr lang="en-US" sz="4800" spc="-100" kern="0" dirty="0">
                <a:solidFill>
                  <a:srgbClr val="18181B"/>
                </a:solidFill>
                <a:latin typeface="Bahnschrift SemiBold" pitchFamily="34" charset="0"/>
                <a:ea typeface="Bahnschrift SemiBold" pitchFamily="34" charset="-122"/>
                <a:cs typeface="Bahnschrift SemiBold" pitchFamily="34" charset="-120"/>
              </a:rPr>
              <a:t>Incident Response Assistant</a:t>
            </a:r>
            <a:endParaRPr lang="en-US" sz="4800" dirty="0"/>
          </a:p>
        </p:txBody>
      </p:sp>
      <p:sp>
        <p:nvSpPr>
          <p:cNvPr id="3" name="Text 1"/>
          <p:cNvSpPr/>
          <p:nvPr/>
        </p:nvSpPr>
        <p:spPr>
          <a:xfrm>
            <a:off x="731520" y="2514600"/>
            <a:ext cx="6583680" cy="731520"/>
          </a:xfrm>
          <a:prstGeom prst="rect">
            <a:avLst/>
          </a:prstGeom>
          <a:noFill/>
          <a:ln/>
        </p:spPr>
        <p:txBody>
          <a:bodyPr wrap="square" lIns="0" tIns="0" rIns="0" bIns="0" rtlCol="0" anchor="t"/>
          <a:lstStyle/>
          <a:p>
            <a:pPr algn="l" indent="0" marL="0">
              <a:lnSpc>
                <a:spcPts val="2700"/>
              </a:lnSpc>
              <a:buNone/>
            </a:pPr>
            <a:r>
              <a:rPr lang="en-US" sz="2000" dirty="0">
                <a:solidFill>
                  <a:srgbClr val="52525B"/>
                </a:solidFill>
                <a:latin typeface="Segoe UI" pitchFamily="34" charset="0"/>
                <a:ea typeface="Segoe UI" pitchFamily="34" charset="-122"/>
                <a:cs typeface="Segoe UI" pitchFamily="34" charset="-120"/>
              </a:rPr>
              <a:t>Multi-agent triage, hybrid RAG and explainable risk scoring for SOC analysts.</a:t>
            </a:r>
            <a:endParaRPr lang="en-US" sz="2000" dirty="0"/>
          </a:p>
        </p:txBody>
      </p:sp>
      <p:sp>
        <p:nvSpPr>
          <p:cNvPr id="4" name="Shape 2"/>
          <p:cNvSpPr/>
          <p:nvPr/>
        </p:nvSpPr>
        <p:spPr>
          <a:xfrm>
            <a:off x="731520" y="3977640"/>
            <a:ext cx="10725912" cy="2084832"/>
          </a:xfrm>
          <a:prstGeom prst="roundRect">
            <a:avLst>
              <a:gd name="adj" fmla="val 3509"/>
            </a:avLst>
          </a:prstGeom>
          <a:solidFill>
            <a:srgbClr val="FFFFFF"/>
          </a:solidFill>
          <a:ln w="9525">
            <a:solidFill>
              <a:srgbClr val="D4D4D8"/>
            </a:solidFill>
            <a:prstDash val="solid"/>
          </a:ln>
        </p:spPr>
      </p:sp>
      <p:pic>
        <p:nvPicPr>
          <p:cNvPr id="5" name="Image 0" descr="C:\Users\vidya\AppData\Local\Temp\claude\D--Madhumitha-CyberSecurity\42d0cf26-ccc7-468c-a7ce-e789dbb7f4d9\scratchpad\deck\arch_band.jpg">    </p:cNvPr>
          <p:cNvPicPr>
            <a:picLocks noChangeAspect="1"/>
          </p:cNvPicPr>
          <p:nvPr/>
        </p:nvPicPr>
        <p:blipFill>
          <a:blip r:embed="rId1"/>
          <a:stretch>
            <a:fillRect/>
          </a:stretch>
        </p:blipFill>
        <p:spPr>
          <a:xfrm>
            <a:off x="868680" y="4114800"/>
            <a:ext cx="10451592" cy="1810512"/>
          </a:xfrm>
          <a:prstGeom prst="rect">
            <a:avLst/>
          </a:prstGeom>
        </p:spPr>
      </p:pic>
      <p:sp>
        <p:nvSpPr>
          <p:cNvPr id="6" name="Text 3"/>
          <p:cNvSpPr/>
          <p:nvPr/>
        </p:nvSpPr>
        <p:spPr>
          <a:xfrm>
            <a:off x="731520" y="6309360"/>
            <a:ext cx="4572000" cy="274320"/>
          </a:xfrm>
          <a:prstGeom prst="rect">
            <a:avLst/>
          </a:prstGeom>
          <a:noFill/>
          <a:ln/>
        </p:spPr>
        <p:txBody>
          <a:bodyPr wrap="square" lIns="0" tIns="0" rIns="0" bIns="0" rtlCol="0" anchor="t"/>
          <a:lstStyle/>
          <a:p>
            <a:pPr algn="l" indent="0" marL="0">
              <a:lnSpc>
                <a:spcPts val="1400"/>
              </a:lnSpc>
              <a:buNone/>
            </a:pPr>
            <a:r>
              <a:rPr lang="en-US" sz="1100" dirty="0">
                <a:solidFill>
                  <a:srgbClr val="52525B"/>
                </a:solidFill>
                <a:latin typeface="Segoe UI" pitchFamily="34" charset="0"/>
                <a:ea typeface="Segoe UI" pitchFamily="34" charset="-122"/>
                <a:cs typeface="Segoe UI" pitchFamily="34" charset="-120"/>
              </a:rPr>
              <a:t>Project review, 10 minutes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566928"/>
            <a:ext cx="10698480" cy="731520"/>
          </a:xfrm>
          <a:prstGeom prst="rect">
            <a:avLst/>
          </a:prstGeom>
          <a:noFill/>
          <a:ln/>
        </p:spPr>
        <p:txBody>
          <a:bodyPr wrap="square" lIns="0" tIns="0" rIns="0" bIns="0" rtlCol="0" anchor="t"/>
          <a:lstStyle/>
          <a:p>
            <a:pPr algn="l" indent="0" marL="0">
              <a:lnSpc>
                <a:spcPts val="3900"/>
              </a:lnSpc>
              <a:buNone/>
            </a:pPr>
            <a:r>
              <a:rPr lang="en-US" sz="3400" spc="-50" kern="0" dirty="0">
                <a:solidFill>
                  <a:srgbClr val="18181B"/>
                </a:solidFill>
                <a:latin typeface="Bahnschrift SemiBold" pitchFamily="34" charset="0"/>
                <a:ea typeface="Bahnschrift SemiBold" pitchFamily="34" charset="-122"/>
                <a:cs typeface="Bahnschrift SemiBold" pitchFamily="34" charset="-120"/>
              </a:rPr>
              <a:t>Alert volume outruns analysts</a:t>
            </a:r>
            <a:endParaRPr lang="en-US" sz="3400" dirty="0"/>
          </a:p>
        </p:txBody>
      </p:sp>
      <p:sp>
        <p:nvSpPr>
          <p:cNvPr id="3" name="Text 1"/>
          <p:cNvSpPr/>
          <p:nvPr/>
        </p:nvSpPr>
        <p:spPr>
          <a:xfrm>
            <a:off x="731520" y="6400800"/>
            <a:ext cx="3657600" cy="228600"/>
          </a:xfrm>
          <a:prstGeom prst="rect">
            <a:avLst/>
          </a:prstGeom>
          <a:noFill/>
          <a:ln/>
        </p:spPr>
        <p:txBody>
          <a:bodyPr wrap="square" lIns="0" tIns="0" rIns="0" bIns="0" rtlCol="0" anchor="t"/>
          <a:lstStyle/>
          <a:p>
            <a:pPr algn="l" indent="0" marL="0">
              <a:lnSpc>
                <a:spcPts val="1300"/>
              </a:lnSpc>
              <a:buNone/>
            </a:pPr>
            <a:r>
              <a:rPr lang="en-US" sz="1000" dirty="0">
                <a:solidFill>
                  <a:srgbClr val="52525B"/>
                </a:solidFill>
                <a:latin typeface="Segoe UI" pitchFamily="34" charset="0"/>
                <a:ea typeface="Segoe UI" pitchFamily="34" charset="-122"/>
                <a:cs typeface="Segoe UI" pitchFamily="34" charset="-120"/>
              </a:rPr>
              <a:t>Incident Response Assistant</a:t>
            </a:r>
            <a:endParaRPr lang="en-US" sz="1000" dirty="0"/>
          </a:p>
        </p:txBody>
      </p:sp>
      <p:sp>
        <p:nvSpPr>
          <p:cNvPr id="4" name="Text 2"/>
          <p:cNvSpPr/>
          <p:nvPr/>
        </p:nvSpPr>
        <p:spPr>
          <a:xfrm>
            <a:off x="10725912" y="6400800"/>
            <a:ext cx="731520" cy="228600"/>
          </a:xfrm>
          <a:prstGeom prst="rect">
            <a:avLst/>
          </a:prstGeom>
          <a:noFill/>
          <a:ln/>
        </p:spPr>
        <p:txBody>
          <a:bodyPr wrap="square" lIns="0" tIns="0" rIns="0" bIns="0" rtlCol="0" anchor="t"/>
          <a:lstStyle/>
          <a:p>
            <a:pPr algn="r" indent="0" marL="0">
              <a:lnSpc>
                <a:spcPts val="1300"/>
              </a:lnSpc>
              <a:buNone/>
            </a:pPr>
            <a:r>
              <a:rPr lang="en-US" sz="1000" dirty="0">
                <a:solidFill>
                  <a:srgbClr val="52525B"/>
                </a:solidFill>
                <a:latin typeface="Segoe UI" pitchFamily="34" charset="0"/>
                <a:ea typeface="Segoe UI" pitchFamily="34" charset="-122"/>
                <a:cs typeface="Segoe UI" pitchFamily="34" charset="-120"/>
              </a:rPr>
              <a:t>2</a:t>
            </a:r>
            <a:endParaRPr lang="en-US" sz="1000" dirty="0"/>
          </a:p>
        </p:txBody>
      </p:sp>
      <p:sp>
        <p:nvSpPr>
          <p:cNvPr id="6" name="Text 3"/>
          <p:cNvSpPr/>
          <p:nvPr/>
        </p:nvSpPr>
        <p:spPr>
          <a:xfrm>
            <a:off x="731520" y="1874520"/>
            <a:ext cx="5029200" cy="1371600"/>
          </a:xfrm>
          <a:prstGeom prst="rect">
            <a:avLst/>
          </a:prstGeom>
          <a:noFill/>
          <a:ln/>
        </p:spPr>
        <p:txBody>
          <a:bodyPr wrap="square" lIns="0" tIns="0" rIns="0" bIns="0" rtlCol="0" anchor="t"/>
          <a:lstStyle/>
          <a:p>
            <a:pPr algn="l" indent="0" marL="0">
              <a:lnSpc>
                <a:spcPts val="8800"/>
              </a:lnSpc>
              <a:buNone/>
            </a:pPr>
            <a:r>
              <a:rPr lang="en-US" sz="8800" spc="-200" kern="0" dirty="0">
                <a:solidFill>
                  <a:srgbClr val="A1A1AA"/>
                </a:solidFill>
                <a:latin typeface="Bahnschrift SemiBold" pitchFamily="34" charset="0"/>
                <a:ea typeface="Bahnschrift SemiBold" pitchFamily="34" charset="-122"/>
                <a:cs typeface="Bahnschrift SemiBold" pitchFamily="34" charset="-120"/>
              </a:rPr>
              <a:t>30 min</a:t>
            </a:r>
            <a:endParaRPr lang="en-US" sz="8800" dirty="0"/>
          </a:p>
        </p:txBody>
      </p:sp>
      <p:sp>
        <p:nvSpPr>
          <p:cNvPr id="7" name="Text 4"/>
          <p:cNvSpPr/>
          <p:nvPr/>
        </p:nvSpPr>
        <p:spPr>
          <a:xfrm>
            <a:off x="731520" y="3154680"/>
            <a:ext cx="5029200" cy="365760"/>
          </a:xfrm>
          <a:prstGeom prst="rect">
            <a:avLst/>
          </a:prstGeom>
          <a:noFill/>
          <a:ln/>
        </p:spPr>
        <p:txBody>
          <a:bodyPr wrap="square" lIns="0" tIns="0" rIns="0" bIns="0" rtlCol="0" anchor="t"/>
          <a:lstStyle/>
          <a:p>
            <a:pPr algn="l" indent="0" marL="0">
              <a:lnSpc>
                <a:spcPts val="2100"/>
              </a:lnSpc>
              <a:buNone/>
            </a:pPr>
            <a:r>
              <a:rPr lang="en-US" sz="1600" dirty="0">
                <a:solidFill>
                  <a:srgbClr val="52525B"/>
                </a:solidFill>
                <a:latin typeface="Segoe UI" pitchFamily="34" charset="0"/>
                <a:ea typeface="Segoe UI" pitchFamily="34" charset="-122"/>
                <a:cs typeface="Segoe UI" pitchFamily="34" charset="-120"/>
              </a:rPr>
              <a:t>to triage one incident by hand</a:t>
            </a:r>
            <a:endParaRPr lang="en-US" sz="1600" dirty="0"/>
          </a:p>
        </p:txBody>
      </p:sp>
      <p:sp>
        <p:nvSpPr>
          <p:cNvPr id="8" name="Text 5"/>
          <p:cNvSpPr/>
          <p:nvPr/>
        </p:nvSpPr>
        <p:spPr>
          <a:xfrm>
            <a:off x="731520" y="4069080"/>
            <a:ext cx="5029200" cy="1371600"/>
          </a:xfrm>
          <a:prstGeom prst="rect">
            <a:avLst/>
          </a:prstGeom>
          <a:noFill/>
          <a:ln/>
        </p:spPr>
        <p:txBody>
          <a:bodyPr wrap="square" lIns="0" tIns="0" rIns="0" bIns="0" rtlCol="0" anchor="t"/>
          <a:lstStyle/>
          <a:p>
            <a:pPr algn="l" indent="0" marL="0">
              <a:lnSpc>
                <a:spcPts val="8800"/>
              </a:lnSpc>
              <a:buNone/>
            </a:pPr>
            <a:r>
              <a:rPr lang="en-US" sz="8800" spc="-200" kern="0" dirty="0">
                <a:solidFill>
                  <a:srgbClr val="047857"/>
                </a:solidFill>
                <a:latin typeface="Bahnschrift SemiBold" pitchFamily="34" charset="0"/>
                <a:ea typeface="Bahnschrift SemiBold" pitchFamily="34" charset="-122"/>
                <a:cs typeface="Bahnschrift SemiBold" pitchFamily="34" charset="-120"/>
              </a:rPr>
              <a:t>5 sec</a:t>
            </a:r>
            <a:endParaRPr lang="en-US" sz="8800" dirty="0"/>
          </a:p>
        </p:txBody>
      </p:sp>
      <p:sp>
        <p:nvSpPr>
          <p:cNvPr id="9" name="Text 6"/>
          <p:cNvSpPr/>
          <p:nvPr/>
        </p:nvSpPr>
        <p:spPr>
          <a:xfrm>
            <a:off x="731520" y="5349240"/>
            <a:ext cx="5029200" cy="365760"/>
          </a:xfrm>
          <a:prstGeom prst="rect">
            <a:avLst/>
          </a:prstGeom>
          <a:noFill/>
          <a:ln/>
        </p:spPr>
        <p:txBody>
          <a:bodyPr wrap="square" lIns="0" tIns="0" rIns="0" bIns="0" rtlCol="0" anchor="t"/>
          <a:lstStyle/>
          <a:p>
            <a:pPr algn="l" indent="0" marL="0">
              <a:lnSpc>
                <a:spcPts val="2100"/>
              </a:lnSpc>
              <a:buNone/>
            </a:pPr>
            <a:r>
              <a:rPr lang="en-US" sz="1600" dirty="0">
                <a:solidFill>
                  <a:srgbClr val="52525B"/>
                </a:solidFill>
                <a:latin typeface="Segoe UI" pitchFamily="34" charset="0"/>
                <a:ea typeface="Segoe UI" pitchFamily="34" charset="-122"/>
                <a:cs typeface="Segoe UI" pitchFamily="34" charset="-120"/>
              </a:rPr>
              <a:t>target with the assistant</a:t>
            </a:r>
            <a:endParaRPr lang="en-US" sz="1600" dirty="0"/>
          </a:p>
        </p:txBody>
      </p:sp>
      <p:sp>
        <p:nvSpPr>
          <p:cNvPr id="10" name="Text 7"/>
          <p:cNvSpPr/>
          <p:nvPr/>
        </p:nvSpPr>
        <p:spPr>
          <a:xfrm>
            <a:off x="6675120" y="1920240"/>
            <a:ext cx="4754880" cy="411480"/>
          </a:xfrm>
          <a:prstGeom prst="rect">
            <a:avLst/>
          </a:prstGeom>
          <a:noFill/>
          <a:ln/>
        </p:spPr>
        <p:txBody>
          <a:bodyPr wrap="square" lIns="0" tIns="0" rIns="0" bIns="0" rtlCol="0" anchor="t"/>
          <a:lstStyle/>
          <a:p>
            <a:pPr algn="l" indent="0" marL="0">
              <a:lnSpc>
                <a:spcPts val="2600"/>
              </a:lnSpc>
              <a:buNone/>
            </a:pPr>
            <a:r>
              <a:rPr lang="en-US" sz="2200" dirty="0">
                <a:solidFill>
                  <a:srgbClr val="18181B"/>
                </a:solidFill>
                <a:latin typeface="Bahnschrift SemiBold" pitchFamily="34" charset="0"/>
                <a:ea typeface="Bahnschrift SemiBold" pitchFamily="34" charset="-122"/>
                <a:cs typeface="Bahnschrift SemiBold" pitchFamily="34" charset="-120"/>
              </a:rPr>
              <a:t>500 to 1,000 alerts per shift</a:t>
            </a:r>
            <a:endParaRPr lang="en-US" sz="2200" dirty="0"/>
          </a:p>
        </p:txBody>
      </p:sp>
      <p:sp>
        <p:nvSpPr>
          <p:cNvPr id="11" name="Text 8"/>
          <p:cNvSpPr/>
          <p:nvPr/>
        </p:nvSpPr>
        <p:spPr>
          <a:xfrm>
            <a:off x="6675120" y="2423160"/>
            <a:ext cx="4572000" cy="640080"/>
          </a:xfrm>
          <a:prstGeom prst="rect">
            <a:avLst/>
          </a:prstGeom>
          <a:noFill/>
          <a:ln/>
        </p:spPr>
        <p:txBody>
          <a:bodyPr wrap="square" lIns="0" tIns="0" rIns="0" bIns="0" rtlCol="0" anchor="t"/>
          <a:lstStyle/>
          <a:p>
            <a:pPr algn="l" indent="0" marL="0">
              <a:lnSpc>
                <a:spcPts val="2100"/>
              </a:lnSpc>
              <a:buNone/>
            </a:pPr>
            <a:r>
              <a:rPr lang="en-US" sz="1500" dirty="0">
                <a:solidFill>
                  <a:srgbClr val="52525B"/>
                </a:solidFill>
                <a:latin typeface="Segoe UI" pitchFamily="34" charset="0"/>
                <a:ea typeface="Segoe UI" pitchFamily="34" charset="-122"/>
                <a:cs typeface="Segoe UI" pitchFamily="34" charset="-120"/>
              </a:rPr>
              <a:t>Over 85% of triage time goes to benign noise.</a:t>
            </a:r>
            <a:endParaRPr lang="en-US" sz="1500" dirty="0"/>
          </a:p>
        </p:txBody>
      </p:sp>
      <p:sp>
        <p:nvSpPr>
          <p:cNvPr id="12" name="Text 9"/>
          <p:cNvSpPr/>
          <p:nvPr/>
        </p:nvSpPr>
        <p:spPr>
          <a:xfrm>
            <a:off x="6675120" y="3291840"/>
            <a:ext cx="4754880" cy="411480"/>
          </a:xfrm>
          <a:prstGeom prst="rect">
            <a:avLst/>
          </a:prstGeom>
          <a:noFill/>
          <a:ln/>
        </p:spPr>
        <p:txBody>
          <a:bodyPr wrap="square" lIns="0" tIns="0" rIns="0" bIns="0" rtlCol="0" anchor="t"/>
          <a:lstStyle/>
          <a:p>
            <a:pPr algn="l" indent="0" marL="0">
              <a:lnSpc>
                <a:spcPts val="2600"/>
              </a:lnSpc>
              <a:buNone/>
            </a:pPr>
            <a:r>
              <a:rPr lang="en-US" sz="2200" dirty="0">
                <a:solidFill>
                  <a:srgbClr val="18181B"/>
                </a:solidFill>
                <a:latin typeface="Bahnschrift SemiBold" pitchFamily="34" charset="0"/>
                <a:ea typeface="Bahnschrift SemiBold" pitchFamily="34" charset="-122"/>
                <a:cs typeface="Bahnschrift SemiBold" pitchFamily="34" charset="-120"/>
              </a:rPr>
              <a:t>No historical context</a:t>
            </a:r>
            <a:endParaRPr lang="en-US" sz="2200" dirty="0"/>
          </a:p>
        </p:txBody>
      </p:sp>
      <p:sp>
        <p:nvSpPr>
          <p:cNvPr id="13" name="Text 10"/>
          <p:cNvSpPr/>
          <p:nvPr/>
        </p:nvSpPr>
        <p:spPr>
          <a:xfrm>
            <a:off x="6675120" y="3794760"/>
            <a:ext cx="4572000" cy="640080"/>
          </a:xfrm>
          <a:prstGeom prst="rect">
            <a:avLst/>
          </a:prstGeom>
          <a:noFill/>
          <a:ln/>
        </p:spPr>
        <p:txBody>
          <a:bodyPr wrap="square" lIns="0" tIns="0" rIns="0" bIns="0" rtlCol="0" anchor="t"/>
          <a:lstStyle/>
          <a:p>
            <a:pPr algn="l" indent="0" marL="0">
              <a:lnSpc>
                <a:spcPts val="2100"/>
              </a:lnSpc>
              <a:buNone/>
            </a:pPr>
            <a:r>
              <a:rPr lang="en-US" sz="1500" dirty="0">
                <a:solidFill>
                  <a:srgbClr val="52525B"/>
                </a:solidFill>
                <a:latin typeface="Segoe UI" pitchFamily="34" charset="0"/>
                <a:ea typeface="Segoe UI" pitchFamily="34" charset="-122"/>
                <a:cs typeface="Segoe UI" pitchFamily="34" charset="-120"/>
              </a:rPr>
              <a:t>Recurring threats are investigated from scratch.</a:t>
            </a:r>
            <a:endParaRPr lang="en-US" sz="1500" dirty="0"/>
          </a:p>
        </p:txBody>
      </p:sp>
      <p:sp>
        <p:nvSpPr>
          <p:cNvPr id="14" name="Text 11"/>
          <p:cNvSpPr/>
          <p:nvPr/>
        </p:nvSpPr>
        <p:spPr>
          <a:xfrm>
            <a:off x="6675120" y="4663440"/>
            <a:ext cx="4754880" cy="411480"/>
          </a:xfrm>
          <a:prstGeom prst="rect">
            <a:avLst/>
          </a:prstGeom>
          <a:noFill/>
          <a:ln/>
        </p:spPr>
        <p:txBody>
          <a:bodyPr wrap="square" lIns="0" tIns="0" rIns="0" bIns="0" rtlCol="0" anchor="t"/>
          <a:lstStyle/>
          <a:p>
            <a:pPr algn="l" indent="0" marL="0">
              <a:lnSpc>
                <a:spcPts val="2600"/>
              </a:lnSpc>
              <a:buNone/>
            </a:pPr>
            <a:r>
              <a:rPr lang="en-US" sz="2200" dirty="0">
                <a:solidFill>
                  <a:srgbClr val="18181B"/>
                </a:solidFill>
                <a:latin typeface="Bahnschrift SemiBold" pitchFamily="34" charset="0"/>
                <a:ea typeface="Bahnschrift SemiBold" pitchFamily="34" charset="-122"/>
                <a:cs typeface="Bahnschrift SemiBold" pitchFamily="34" charset="-120"/>
              </a:rPr>
              <a:t>Unsafe LLM output</a:t>
            </a:r>
            <a:endParaRPr lang="en-US" sz="2200" dirty="0"/>
          </a:p>
        </p:txBody>
      </p:sp>
      <p:sp>
        <p:nvSpPr>
          <p:cNvPr id="15" name="Text 12"/>
          <p:cNvSpPr/>
          <p:nvPr/>
        </p:nvSpPr>
        <p:spPr>
          <a:xfrm>
            <a:off x="6675120" y="5166360"/>
            <a:ext cx="4572000" cy="640080"/>
          </a:xfrm>
          <a:prstGeom prst="rect">
            <a:avLst/>
          </a:prstGeom>
          <a:noFill/>
          <a:ln/>
        </p:spPr>
        <p:txBody>
          <a:bodyPr wrap="square" lIns="0" tIns="0" rIns="0" bIns="0" rtlCol="0" anchor="t"/>
          <a:lstStyle/>
          <a:p>
            <a:pPr algn="l" indent="0" marL="0">
              <a:lnSpc>
                <a:spcPts val="2100"/>
              </a:lnSpc>
              <a:buNone/>
            </a:pPr>
            <a:r>
              <a:rPr lang="en-US" sz="1500" dirty="0">
                <a:solidFill>
                  <a:srgbClr val="52525B"/>
                </a:solidFill>
                <a:latin typeface="Segoe UI" pitchFamily="34" charset="0"/>
                <a:ea typeface="Segoe UI" pitchFamily="34" charset="-122"/>
                <a:cs typeface="Segoe UI" pitchFamily="34" charset="-120"/>
              </a:rPr>
              <a:t>Hallucinated CVEs and unreviewed network changes.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566928"/>
            <a:ext cx="10698480" cy="731520"/>
          </a:xfrm>
          <a:prstGeom prst="rect">
            <a:avLst/>
          </a:prstGeom>
          <a:noFill/>
          <a:ln/>
        </p:spPr>
        <p:txBody>
          <a:bodyPr wrap="square" lIns="0" tIns="0" rIns="0" bIns="0" rtlCol="0" anchor="t"/>
          <a:lstStyle/>
          <a:p>
            <a:pPr algn="l" indent="0" marL="0">
              <a:lnSpc>
                <a:spcPts val="3900"/>
              </a:lnSpc>
              <a:buNone/>
            </a:pPr>
            <a:r>
              <a:rPr lang="en-US" sz="3400" spc="-50" kern="0" dirty="0">
                <a:solidFill>
                  <a:srgbClr val="18181B"/>
                </a:solidFill>
                <a:latin typeface="Bahnschrift SemiBold" pitchFamily="34" charset="0"/>
                <a:ea typeface="Bahnschrift SemiBold" pitchFamily="34" charset="-122"/>
                <a:cs typeface="Bahnschrift SemiBold" pitchFamily="34" charset="-120"/>
              </a:rPr>
              <a:t>Five layers, loosely coupled</a:t>
            </a:r>
            <a:endParaRPr lang="en-US" sz="3400" dirty="0"/>
          </a:p>
        </p:txBody>
      </p:sp>
      <p:sp>
        <p:nvSpPr>
          <p:cNvPr id="3" name="Text 1"/>
          <p:cNvSpPr/>
          <p:nvPr/>
        </p:nvSpPr>
        <p:spPr>
          <a:xfrm>
            <a:off x="731520" y="6400800"/>
            <a:ext cx="3657600" cy="228600"/>
          </a:xfrm>
          <a:prstGeom prst="rect">
            <a:avLst/>
          </a:prstGeom>
          <a:noFill/>
          <a:ln/>
        </p:spPr>
        <p:txBody>
          <a:bodyPr wrap="square" lIns="0" tIns="0" rIns="0" bIns="0" rtlCol="0" anchor="t"/>
          <a:lstStyle/>
          <a:p>
            <a:pPr algn="l" indent="0" marL="0">
              <a:lnSpc>
                <a:spcPts val="1300"/>
              </a:lnSpc>
              <a:buNone/>
            </a:pPr>
            <a:r>
              <a:rPr lang="en-US" sz="1000" dirty="0">
                <a:solidFill>
                  <a:srgbClr val="52525B"/>
                </a:solidFill>
                <a:latin typeface="Segoe UI" pitchFamily="34" charset="0"/>
                <a:ea typeface="Segoe UI" pitchFamily="34" charset="-122"/>
                <a:cs typeface="Segoe UI" pitchFamily="34" charset="-120"/>
              </a:rPr>
              <a:t>Incident Response Assistant</a:t>
            </a:r>
            <a:endParaRPr lang="en-US" sz="1000" dirty="0"/>
          </a:p>
        </p:txBody>
      </p:sp>
      <p:sp>
        <p:nvSpPr>
          <p:cNvPr id="4" name="Text 2"/>
          <p:cNvSpPr/>
          <p:nvPr/>
        </p:nvSpPr>
        <p:spPr>
          <a:xfrm>
            <a:off x="10725912" y="6400800"/>
            <a:ext cx="731520" cy="228600"/>
          </a:xfrm>
          <a:prstGeom prst="rect">
            <a:avLst/>
          </a:prstGeom>
          <a:noFill/>
          <a:ln/>
        </p:spPr>
        <p:txBody>
          <a:bodyPr wrap="square" lIns="0" tIns="0" rIns="0" bIns="0" rtlCol="0" anchor="t"/>
          <a:lstStyle/>
          <a:p>
            <a:pPr algn="r" indent="0" marL="0">
              <a:lnSpc>
                <a:spcPts val="1300"/>
              </a:lnSpc>
              <a:buNone/>
            </a:pPr>
            <a:r>
              <a:rPr lang="en-US" sz="1000" dirty="0">
                <a:solidFill>
                  <a:srgbClr val="52525B"/>
                </a:solidFill>
                <a:latin typeface="Segoe UI" pitchFamily="34" charset="0"/>
                <a:ea typeface="Segoe UI" pitchFamily="34" charset="-122"/>
                <a:cs typeface="Segoe UI" pitchFamily="34" charset="-120"/>
              </a:rPr>
              <a:t>3</a:t>
            </a:r>
            <a:endParaRPr lang="en-US" sz="1000" dirty="0"/>
          </a:p>
        </p:txBody>
      </p:sp>
      <p:sp>
        <p:nvSpPr>
          <p:cNvPr id="6" name="Text 3"/>
          <p:cNvSpPr/>
          <p:nvPr/>
        </p:nvSpPr>
        <p:spPr>
          <a:xfrm>
            <a:off x="731520" y="1600200"/>
            <a:ext cx="2103120" cy="365760"/>
          </a:xfrm>
          <a:prstGeom prst="rect">
            <a:avLst/>
          </a:prstGeom>
          <a:noFill/>
          <a:ln/>
        </p:spPr>
        <p:txBody>
          <a:bodyPr wrap="square" lIns="0" tIns="0" rIns="0" bIns="0" rtlCol="0" anchor="t"/>
          <a:lstStyle/>
          <a:p>
            <a:pPr algn="l" indent="0" marL="0">
              <a:lnSpc>
                <a:spcPts val="2200"/>
              </a:lnSpc>
              <a:buNone/>
            </a:pPr>
            <a:r>
              <a:rPr lang="en-US" sz="1700" dirty="0">
                <a:solidFill>
                  <a:srgbClr val="047857"/>
                </a:solidFill>
                <a:latin typeface="Bahnschrift SemiBold" pitchFamily="34" charset="0"/>
                <a:ea typeface="Bahnschrift SemiBold" pitchFamily="34" charset="-122"/>
                <a:cs typeface="Bahnschrift SemiBold" pitchFamily="34" charset="-120"/>
              </a:rPr>
              <a:t>Interface</a:t>
            </a:r>
            <a:endParaRPr lang="en-US" sz="1700" dirty="0"/>
          </a:p>
        </p:txBody>
      </p:sp>
      <p:sp>
        <p:nvSpPr>
          <p:cNvPr id="7" name="Text 4"/>
          <p:cNvSpPr/>
          <p:nvPr/>
        </p:nvSpPr>
        <p:spPr>
          <a:xfrm>
            <a:off x="2926080" y="1618488"/>
            <a:ext cx="8503920" cy="365760"/>
          </a:xfrm>
          <a:prstGeom prst="rect">
            <a:avLst/>
          </a:prstGeom>
          <a:noFill/>
          <a:ln/>
        </p:spPr>
        <p:txBody>
          <a:bodyPr wrap="square" lIns="0" tIns="0" rIns="0" bIns="0" rtlCol="0" anchor="t"/>
          <a:lstStyle/>
          <a:p>
            <a:pPr algn="l" indent="0" marL="0">
              <a:lnSpc>
                <a:spcPts val="2200"/>
              </a:lnSpc>
              <a:buNone/>
            </a:pPr>
            <a:r>
              <a:rPr lang="en-US" sz="1700" dirty="0">
                <a:solidFill>
                  <a:srgbClr val="18181B"/>
                </a:solidFill>
                <a:latin typeface="Segoe UI" pitchFamily="34" charset="0"/>
                <a:ea typeface="Segoe UI" pitchFamily="34" charset="-122"/>
                <a:cs typeface="Segoe UI" pitchFamily="34" charset="-120"/>
              </a:rPr>
              <a:t>React 19 single-page app and Streamlit console</a:t>
            </a:r>
            <a:endParaRPr lang="en-US" sz="1700" dirty="0"/>
          </a:p>
        </p:txBody>
      </p:sp>
      <p:sp>
        <p:nvSpPr>
          <p:cNvPr id="8" name="Text 5"/>
          <p:cNvSpPr/>
          <p:nvPr/>
        </p:nvSpPr>
        <p:spPr>
          <a:xfrm>
            <a:off x="731520" y="2258568"/>
            <a:ext cx="2103120" cy="365760"/>
          </a:xfrm>
          <a:prstGeom prst="rect">
            <a:avLst/>
          </a:prstGeom>
          <a:noFill/>
          <a:ln/>
        </p:spPr>
        <p:txBody>
          <a:bodyPr wrap="square" lIns="0" tIns="0" rIns="0" bIns="0" rtlCol="0" anchor="t"/>
          <a:lstStyle/>
          <a:p>
            <a:pPr algn="l" indent="0" marL="0">
              <a:lnSpc>
                <a:spcPts val="2200"/>
              </a:lnSpc>
              <a:buNone/>
            </a:pPr>
            <a:r>
              <a:rPr lang="en-US" sz="1700" dirty="0">
                <a:solidFill>
                  <a:srgbClr val="047857"/>
                </a:solidFill>
                <a:latin typeface="Bahnschrift SemiBold" pitchFamily="34" charset="0"/>
                <a:ea typeface="Bahnschrift SemiBold" pitchFamily="34" charset="-122"/>
                <a:cs typeface="Bahnschrift SemiBold" pitchFamily="34" charset="-120"/>
              </a:rPr>
              <a:t>API</a:t>
            </a:r>
            <a:endParaRPr lang="en-US" sz="1700" dirty="0"/>
          </a:p>
        </p:txBody>
      </p:sp>
      <p:sp>
        <p:nvSpPr>
          <p:cNvPr id="9" name="Text 6"/>
          <p:cNvSpPr/>
          <p:nvPr/>
        </p:nvSpPr>
        <p:spPr>
          <a:xfrm>
            <a:off x="2926080" y="2276856"/>
            <a:ext cx="8503920" cy="365760"/>
          </a:xfrm>
          <a:prstGeom prst="rect">
            <a:avLst/>
          </a:prstGeom>
          <a:noFill/>
          <a:ln/>
        </p:spPr>
        <p:txBody>
          <a:bodyPr wrap="square" lIns="0" tIns="0" rIns="0" bIns="0" rtlCol="0" anchor="t"/>
          <a:lstStyle/>
          <a:p>
            <a:pPr algn="l" indent="0" marL="0">
              <a:lnSpc>
                <a:spcPts val="2200"/>
              </a:lnSpc>
              <a:buNone/>
            </a:pPr>
            <a:r>
              <a:rPr lang="en-US" sz="1700" dirty="0">
                <a:solidFill>
                  <a:srgbClr val="18181B"/>
                </a:solidFill>
                <a:latin typeface="Segoe UI" pitchFamily="34" charset="0"/>
                <a:ea typeface="Segoe UI" pitchFamily="34" charset="-122"/>
                <a:cs typeface="Segoe UI" pitchFamily="34" charset="-120"/>
              </a:rPr>
              <a:t>FastAPI with JWT roles, input guardrails and trace IDs</a:t>
            </a:r>
            <a:endParaRPr lang="en-US" sz="1700" dirty="0"/>
          </a:p>
        </p:txBody>
      </p:sp>
      <p:sp>
        <p:nvSpPr>
          <p:cNvPr id="10" name="Text 7"/>
          <p:cNvSpPr/>
          <p:nvPr/>
        </p:nvSpPr>
        <p:spPr>
          <a:xfrm>
            <a:off x="731520" y="2916936"/>
            <a:ext cx="2103120" cy="365760"/>
          </a:xfrm>
          <a:prstGeom prst="rect">
            <a:avLst/>
          </a:prstGeom>
          <a:noFill/>
          <a:ln/>
        </p:spPr>
        <p:txBody>
          <a:bodyPr wrap="square" lIns="0" tIns="0" rIns="0" bIns="0" rtlCol="0" anchor="t"/>
          <a:lstStyle/>
          <a:p>
            <a:pPr algn="l" indent="0" marL="0">
              <a:lnSpc>
                <a:spcPts val="2200"/>
              </a:lnSpc>
              <a:buNone/>
            </a:pPr>
            <a:r>
              <a:rPr lang="en-US" sz="1700" dirty="0">
                <a:solidFill>
                  <a:srgbClr val="047857"/>
                </a:solidFill>
                <a:latin typeface="Bahnschrift SemiBold" pitchFamily="34" charset="0"/>
                <a:ea typeface="Bahnschrift SemiBold" pitchFamily="34" charset="-122"/>
                <a:cs typeface="Bahnschrift SemiBold" pitchFamily="34" charset="-120"/>
              </a:rPr>
              <a:t>Orchestration</a:t>
            </a:r>
            <a:endParaRPr lang="en-US" sz="1700" dirty="0"/>
          </a:p>
        </p:txBody>
      </p:sp>
      <p:sp>
        <p:nvSpPr>
          <p:cNvPr id="11" name="Text 8"/>
          <p:cNvSpPr/>
          <p:nvPr/>
        </p:nvSpPr>
        <p:spPr>
          <a:xfrm>
            <a:off x="2926080" y="2935224"/>
            <a:ext cx="8503920" cy="365760"/>
          </a:xfrm>
          <a:prstGeom prst="rect">
            <a:avLst/>
          </a:prstGeom>
          <a:noFill/>
          <a:ln/>
        </p:spPr>
        <p:txBody>
          <a:bodyPr wrap="square" lIns="0" tIns="0" rIns="0" bIns="0" rtlCol="0" anchor="t"/>
          <a:lstStyle/>
          <a:p>
            <a:pPr algn="l" indent="0" marL="0">
              <a:lnSpc>
                <a:spcPts val="2200"/>
              </a:lnSpc>
              <a:buNone/>
            </a:pPr>
            <a:r>
              <a:rPr lang="en-US" sz="1700" dirty="0">
                <a:solidFill>
                  <a:srgbClr val="18181B"/>
                </a:solidFill>
                <a:latin typeface="Segoe UI" pitchFamily="34" charset="0"/>
                <a:ea typeface="Segoe UI" pitchFamily="34" charset="-122"/>
                <a:cs typeface="Segoe UI" pitchFamily="34" charset="-120"/>
              </a:rPr>
              <a:t>LangGraph state machine with six nodes</a:t>
            </a:r>
            <a:endParaRPr lang="en-US" sz="1700" dirty="0"/>
          </a:p>
        </p:txBody>
      </p:sp>
      <p:sp>
        <p:nvSpPr>
          <p:cNvPr id="12" name="Text 9"/>
          <p:cNvSpPr/>
          <p:nvPr/>
        </p:nvSpPr>
        <p:spPr>
          <a:xfrm>
            <a:off x="731520" y="3703320"/>
            <a:ext cx="2103120" cy="365760"/>
          </a:xfrm>
          <a:prstGeom prst="rect">
            <a:avLst/>
          </a:prstGeom>
          <a:noFill/>
          <a:ln/>
        </p:spPr>
        <p:txBody>
          <a:bodyPr wrap="square" lIns="0" tIns="0" rIns="0" bIns="0" rtlCol="0" anchor="t"/>
          <a:lstStyle/>
          <a:p>
            <a:pPr algn="l" indent="0" marL="0">
              <a:lnSpc>
                <a:spcPts val="2200"/>
              </a:lnSpc>
              <a:buNone/>
            </a:pPr>
            <a:r>
              <a:rPr lang="en-US" sz="1700" dirty="0">
                <a:solidFill>
                  <a:srgbClr val="047857"/>
                </a:solidFill>
                <a:latin typeface="Bahnschrift SemiBold" pitchFamily="34" charset="0"/>
                <a:ea typeface="Bahnschrift SemiBold" pitchFamily="34" charset="-122"/>
                <a:cs typeface="Bahnschrift SemiBold" pitchFamily="34" charset="-120"/>
              </a:rPr>
              <a:t>Intelligence</a:t>
            </a:r>
            <a:endParaRPr lang="en-US" sz="1700" dirty="0"/>
          </a:p>
        </p:txBody>
      </p:sp>
      <p:sp>
        <p:nvSpPr>
          <p:cNvPr id="13" name="Shape 10"/>
          <p:cNvSpPr/>
          <p:nvPr/>
        </p:nvSpPr>
        <p:spPr>
          <a:xfrm>
            <a:off x="2926080" y="3611880"/>
            <a:ext cx="2743200" cy="1508760"/>
          </a:xfrm>
          <a:prstGeom prst="roundRect">
            <a:avLst>
              <a:gd name="adj" fmla="val 4848"/>
            </a:avLst>
          </a:prstGeom>
          <a:solidFill>
            <a:srgbClr val="E6F2ED"/>
          </a:solidFill>
          <a:ln/>
        </p:spPr>
      </p:sp>
      <p:sp>
        <p:nvSpPr>
          <p:cNvPr id="14" name="Text 11"/>
          <p:cNvSpPr/>
          <p:nvPr/>
        </p:nvSpPr>
        <p:spPr>
          <a:xfrm>
            <a:off x="3127248" y="3767328"/>
            <a:ext cx="2377440" cy="365760"/>
          </a:xfrm>
          <a:prstGeom prst="rect">
            <a:avLst/>
          </a:prstGeom>
          <a:noFill/>
          <a:ln/>
        </p:spPr>
        <p:txBody>
          <a:bodyPr wrap="square" lIns="0" tIns="0" rIns="0" bIns="0" rtlCol="0" anchor="t"/>
          <a:lstStyle/>
          <a:p>
            <a:pPr algn="l" indent="0" marL="0">
              <a:lnSpc>
                <a:spcPts val="2100"/>
              </a:lnSpc>
              <a:buNone/>
            </a:pPr>
            <a:r>
              <a:rPr lang="en-US" sz="1600" dirty="0">
                <a:solidFill>
                  <a:srgbClr val="047857"/>
                </a:solidFill>
                <a:latin typeface="Bahnschrift SemiBold" pitchFamily="34" charset="0"/>
                <a:ea typeface="Bahnschrift SemiBold" pitchFamily="34" charset="-122"/>
                <a:cs typeface="Bahnschrift SemiBold" pitchFamily="34" charset="-120"/>
              </a:rPr>
              <a:t>ML models</a:t>
            </a:r>
            <a:endParaRPr lang="en-US" sz="1600" dirty="0"/>
          </a:p>
        </p:txBody>
      </p:sp>
      <p:sp>
        <p:nvSpPr>
          <p:cNvPr id="15" name="Text 12"/>
          <p:cNvSpPr/>
          <p:nvPr/>
        </p:nvSpPr>
        <p:spPr>
          <a:xfrm>
            <a:off x="3127248" y="4206240"/>
            <a:ext cx="2377440" cy="822960"/>
          </a:xfrm>
          <a:prstGeom prst="rect">
            <a:avLst/>
          </a:prstGeom>
          <a:noFill/>
          <a:ln/>
        </p:spPr>
        <p:txBody>
          <a:bodyPr wrap="square" lIns="0" tIns="0" rIns="0" bIns="0" rtlCol="0" anchor="t"/>
          <a:lstStyle/>
          <a:p>
            <a:pPr algn="l" indent="0" marL="0">
              <a:lnSpc>
                <a:spcPts val="1800"/>
              </a:lnSpc>
              <a:buNone/>
            </a:pPr>
            <a:r>
              <a:rPr lang="en-US" sz="1300" dirty="0">
                <a:solidFill>
                  <a:srgbClr val="52525B"/>
                </a:solidFill>
                <a:latin typeface="Segoe UI" pitchFamily="34" charset="0"/>
                <a:ea typeface="Segoe UI" pitchFamily="34" charset="-122"/>
                <a:cs typeface="Segoe UI" pitchFamily="34" charset="-120"/>
              </a:rPr>
              <a:t>Random Forest, Gradient Boosting, Isolation Forest, SHAP</a:t>
            </a:r>
            <a:endParaRPr lang="en-US" sz="1300" dirty="0"/>
          </a:p>
        </p:txBody>
      </p:sp>
      <p:sp>
        <p:nvSpPr>
          <p:cNvPr id="16" name="Shape 13"/>
          <p:cNvSpPr/>
          <p:nvPr/>
        </p:nvSpPr>
        <p:spPr>
          <a:xfrm>
            <a:off x="5797296" y="3611880"/>
            <a:ext cx="2743200" cy="1508760"/>
          </a:xfrm>
          <a:prstGeom prst="roundRect">
            <a:avLst>
              <a:gd name="adj" fmla="val 4848"/>
            </a:avLst>
          </a:prstGeom>
          <a:solidFill>
            <a:srgbClr val="FFFFFF"/>
          </a:solidFill>
          <a:ln w="9525">
            <a:solidFill>
              <a:srgbClr val="D4D4D8"/>
            </a:solidFill>
            <a:prstDash val="solid"/>
          </a:ln>
        </p:spPr>
      </p:sp>
      <p:sp>
        <p:nvSpPr>
          <p:cNvPr id="17" name="Text 14"/>
          <p:cNvSpPr/>
          <p:nvPr/>
        </p:nvSpPr>
        <p:spPr>
          <a:xfrm>
            <a:off x="5998464" y="3767328"/>
            <a:ext cx="2377440" cy="365760"/>
          </a:xfrm>
          <a:prstGeom prst="rect">
            <a:avLst/>
          </a:prstGeom>
          <a:noFill/>
          <a:ln/>
        </p:spPr>
        <p:txBody>
          <a:bodyPr wrap="square" lIns="0" tIns="0" rIns="0" bIns="0" rtlCol="0" anchor="t"/>
          <a:lstStyle/>
          <a:p>
            <a:pPr algn="l" indent="0" marL="0">
              <a:lnSpc>
                <a:spcPts val="2100"/>
              </a:lnSpc>
              <a:buNone/>
            </a:pPr>
            <a:r>
              <a:rPr lang="en-US" sz="1600" dirty="0">
                <a:solidFill>
                  <a:srgbClr val="047857"/>
                </a:solidFill>
                <a:latin typeface="Bahnschrift SemiBold" pitchFamily="34" charset="0"/>
                <a:ea typeface="Bahnschrift SemiBold" pitchFamily="34" charset="-122"/>
                <a:cs typeface="Bahnschrift SemiBold" pitchFamily="34" charset="-120"/>
              </a:rPr>
              <a:t>Hybrid RAG</a:t>
            </a:r>
            <a:endParaRPr lang="en-US" sz="1600" dirty="0"/>
          </a:p>
        </p:txBody>
      </p:sp>
      <p:sp>
        <p:nvSpPr>
          <p:cNvPr id="18" name="Text 15"/>
          <p:cNvSpPr/>
          <p:nvPr/>
        </p:nvSpPr>
        <p:spPr>
          <a:xfrm>
            <a:off x="5998464" y="4206240"/>
            <a:ext cx="2377440" cy="822960"/>
          </a:xfrm>
          <a:prstGeom prst="rect">
            <a:avLst/>
          </a:prstGeom>
          <a:noFill/>
          <a:ln/>
        </p:spPr>
        <p:txBody>
          <a:bodyPr wrap="square" lIns="0" tIns="0" rIns="0" bIns="0" rtlCol="0" anchor="t"/>
          <a:lstStyle/>
          <a:p>
            <a:pPr algn="l" indent="0" marL="0">
              <a:lnSpc>
                <a:spcPts val="1800"/>
              </a:lnSpc>
              <a:buNone/>
            </a:pPr>
            <a:r>
              <a:rPr lang="en-US" sz="1300" dirty="0">
                <a:solidFill>
                  <a:srgbClr val="52525B"/>
                </a:solidFill>
                <a:latin typeface="Segoe UI" pitchFamily="34" charset="0"/>
                <a:ea typeface="Segoe UI" pitchFamily="34" charset="-122"/>
                <a:cs typeface="Segoe UI" pitchFamily="34" charset="-120"/>
              </a:rPr>
              <a:t>MiniLM embeddings in Qdrant, fused with BM25</a:t>
            </a:r>
            <a:endParaRPr lang="en-US" sz="1300" dirty="0"/>
          </a:p>
        </p:txBody>
      </p:sp>
      <p:sp>
        <p:nvSpPr>
          <p:cNvPr id="19" name="Shape 16"/>
          <p:cNvSpPr/>
          <p:nvPr/>
        </p:nvSpPr>
        <p:spPr>
          <a:xfrm>
            <a:off x="8668512" y="3611880"/>
            <a:ext cx="2743200" cy="1508760"/>
          </a:xfrm>
          <a:prstGeom prst="roundRect">
            <a:avLst>
              <a:gd name="adj" fmla="val 4848"/>
            </a:avLst>
          </a:prstGeom>
          <a:solidFill>
            <a:srgbClr val="18181B"/>
          </a:solidFill>
          <a:ln/>
        </p:spPr>
      </p:sp>
      <p:sp>
        <p:nvSpPr>
          <p:cNvPr id="20" name="Text 17"/>
          <p:cNvSpPr/>
          <p:nvPr/>
        </p:nvSpPr>
        <p:spPr>
          <a:xfrm>
            <a:off x="8869680" y="3767328"/>
            <a:ext cx="2377440" cy="365760"/>
          </a:xfrm>
          <a:prstGeom prst="rect">
            <a:avLst/>
          </a:prstGeom>
          <a:noFill/>
          <a:ln/>
        </p:spPr>
        <p:txBody>
          <a:bodyPr wrap="square" lIns="0" tIns="0" rIns="0" bIns="0" rtlCol="0" anchor="t"/>
          <a:lstStyle/>
          <a:p>
            <a:pPr algn="l" indent="0" marL="0">
              <a:lnSpc>
                <a:spcPts val="2100"/>
              </a:lnSpc>
              <a:buNone/>
            </a:pPr>
            <a:r>
              <a:rPr lang="en-US" sz="1600" dirty="0">
                <a:solidFill>
                  <a:srgbClr val="A7F3D0"/>
                </a:solidFill>
                <a:latin typeface="Bahnschrift SemiBold" pitchFamily="34" charset="0"/>
                <a:ea typeface="Bahnschrift SemiBold" pitchFamily="34" charset="-122"/>
                <a:cs typeface="Bahnschrift SemiBold" pitchFamily="34" charset="-120"/>
              </a:rPr>
              <a:t>LLM chain</a:t>
            </a:r>
            <a:endParaRPr lang="en-US" sz="1600" dirty="0"/>
          </a:p>
        </p:txBody>
      </p:sp>
      <p:sp>
        <p:nvSpPr>
          <p:cNvPr id="21" name="Text 18"/>
          <p:cNvSpPr/>
          <p:nvPr/>
        </p:nvSpPr>
        <p:spPr>
          <a:xfrm>
            <a:off x="8869680" y="4206240"/>
            <a:ext cx="2377440" cy="822960"/>
          </a:xfrm>
          <a:prstGeom prst="rect">
            <a:avLst/>
          </a:prstGeom>
          <a:noFill/>
          <a:ln/>
        </p:spPr>
        <p:txBody>
          <a:bodyPr wrap="square" lIns="0" tIns="0" rIns="0" bIns="0" rtlCol="0" anchor="t"/>
          <a:lstStyle/>
          <a:p>
            <a:pPr algn="l" indent="0" marL="0">
              <a:lnSpc>
                <a:spcPts val="1800"/>
              </a:lnSpc>
              <a:buNone/>
            </a:pPr>
            <a:r>
              <a:rPr lang="en-US" sz="1300" dirty="0">
                <a:solidFill>
                  <a:srgbClr val="E4E4E7"/>
                </a:solidFill>
                <a:latin typeface="Segoe UI" pitchFamily="34" charset="0"/>
                <a:ea typeface="Segoe UI" pitchFamily="34" charset="-122"/>
                <a:cs typeface="Segoe UI" pitchFamily="34" charset="-120"/>
              </a:rPr>
              <a:t>AICredits, NVIDIA NIM, Ollama, offline playbooks</a:t>
            </a:r>
            <a:endParaRPr lang="en-US" sz="1300" dirty="0"/>
          </a:p>
        </p:txBody>
      </p:sp>
      <p:sp>
        <p:nvSpPr>
          <p:cNvPr id="22" name="Text 19"/>
          <p:cNvSpPr/>
          <p:nvPr/>
        </p:nvSpPr>
        <p:spPr>
          <a:xfrm>
            <a:off x="731520" y="5486400"/>
            <a:ext cx="2103120" cy="365760"/>
          </a:xfrm>
          <a:prstGeom prst="rect">
            <a:avLst/>
          </a:prstGeom>
          <a:noFill/>
          <a:ln/>
        </p:spPr>
        <p:txBody>
          <a:bodyPr wrap="square" lIns="0" tIns="0" rIns="0" bIns="0" rtlCol="0" anchor="t"/>
          <a:lstStyle/>
          <a:p>
            <a:pPr algn="l" indent="0" marL="0">
              <a:lnSpc>
                <a:spcPts val="2200"/>
              </a:lnSpc>
              <a:buNone/>
            </a:pPr>
            <a:r>
              <a:rPr lang="en-US" sz="1700" dirty="0">
                <a:solidFill>
                  <a:srgbClr val="047857"/>
                </a:solidFill>
                <a:latin typeface="Bahnschrift SemiBold" pitchFamily="34" charset="0"/>
                <a:ea typeface="Bahnschrift SemiBold" pitchFamily="34" charset="-122"/>
                <a:cs typeface="Bahnschrift SemiBold" pitchFamily="34" charset="-120"/>
              </a:rPr>
              <a:t>Data</a:t>
            </a:r>
            <a:endParaRPr lang="en-US" sz="1700" dirty="0"/>
          </a:p>
        </p:txBody>
      </p:sp>
      <p:sp>
        <p:nvSpPr>
          <p:cNvPr id="23" name="Text 20"/>
          <p:cNvSpPr/>
          <p:nvPr/>
        </p:nvSpPr>
        <p:spPr>
          <a:xfrm>
            <a:off x="2926080" y="5504688"/>
            <a:ext cx="8503920" cy="640080"/>
          </a:xfrm>
          <a:prstGeom prst="rect">
            <a:avLst/>
          </a:prstGeom>
          <a:noFill/>
          <a:ln/>
        </p:spPr>
        <p:txBody>
          <a:bodyPr wrap="square" lIns="0" tIns="0" rIns="0" bIns="0" rtlCol="0" anchor="t"/>
          <a:lstStyle/>
          <a:p>
            <a:pPr algn="l" indent="0" marL="0">
              <a:lnSpc>
                <a:spcPts val="2200"/>
              </a:lnSpc>
              <a:buNone/>
            </a:pPr>
            <a:r>
              <a:rPr lang="en-US" sz="1700" dirty="0">
                <a:solidFill>
                  <a:srgbClr val="18181B"/>
                </a:solidFill>
                <a:latin typeface="Segoe UI" pitchFamily="34" charset="0"/>
                <a:ea typeface="Segoe UI" pitchFamily="34" charset="-122"/>
                <a:cs typeface="Segoe UI" pitchFamily="34" charset="-120"/>
              </a:rPr>
              <a:t>SQLite or PostgreSQL system of record, embedded Qdrant index, versioned model store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566928"/>
            <a:ext cx="10698480" cy="731520"/>
          </a:xfrm>
          <a:prstGeom prst="rect">
            <a:avLst/>
          </a:prstGeom>
          <a:noFill/>
          <a:ln/>
        </p:spPr>
        <p:txBody>
          <a:bodyPr wrap="square" lIns="0" tIns="0" rIns="0" bIns="0" rtlCol="0" anchor="t"/>
          <a:lstStyle/>
          <a:p>
            <a:pPr algn="l" indent="0" marL="0">
              <a:lnSpc>
                <a:spcPts val="3900"/>
              </a:lnSpc>
              <a:buNone/>
            </a:pPr>
            <a:r>
              <a:rPr lang="en-US" sz="3400" spc="-50" kern="0" dirty="0">
                <a:solidFill>
                  <a:srgbClr val="18181B"/>
                </a:solidFill>
                <a:latin typeface="Bahnschrift SemiBold" pitchFamily="34" charset="0"/>
                <a:ea typeface="Bahnschrift SemiBold" pitchFamily="34" charset="-122"/>
                <a:cs typeface="Bahnschrift SemiBold" pitchFamily="34" charset="-120"/>
              </a:rPr>
              <a:t>The full picture</a:t>
            </a:r>
            <a:endParaRPr lang="en-US" sz="3400" dirty="0"/>
          </a:p>
        </p:txBody>
      </p:sp>
      <p:sp>
        <p:nvSpPr>
          <p:cNvPr id="3" name="Text 1"/>
          <p:cNvSpPr/>
          <p:nvPr/>
        </p:nvSpPr>
        <p:spPr>
          <a:xfrm>
            <a:off x="731520" y="6400800"/>
            <a:ext cx="3657600" cy="228600"/>
          </a:xfrm>
          <a:prstGeom prst="rect">
            <a:avLst/>
          </a:prstGeom>
          <a:noFill/>
          <a:ln/>
        </p:spPr>
        <p:txBody>
          <a:bodyPr wrap="square" lIns="0" tIns="0" rIns="0" bIns="0" rtlCol="0" anchor="t"/>
          <a:lstStyle/>
          <a:p>
            <a:pPr algn="l" indent="0" marL="0">
              <a:lnSpc>
                <a:spcPts val="1300"/>
              </a:lnSpc>
              <a:buNone/>
            </a:pPr>
            <a:r>
              <a:rPr lang="en-US" sz="1000" dirty="0">
                <a:solidFill>
                  <a:srgbClr val="52525B"/>
                </a:solidFill>
                <a:latin typeface="Segoe UI" pitchFamily="34" charset="0"/>
                <a:ea typeface="Segoe UI" pitchFamily="34" charset="-122"/>
                <a:cs typeface="Segoe UI" pitchFamily="34" charset="-120"/>
              </a:rPr>
              <a:t>Incident Response Assistant</a:t>
            </a:r>
            <a:endParaRPr lang="en-US" sz="1000" dirty="0"/>
          </a:p>
        </p:txBody>
      </p:sp>
      <p:sp>
        <p:nvSpPr>
          <p:cNvPr id="4" name="Text 2"/>
          <p:cNvSpPr/>
          <p:nvPr/>
        </p:nvSpPr>
        <p:spPr>
          <a:xfrm>
            <a:off x="10725912" y="6400800"/>
            <a:ext cx="731520" cy="228600"/>
          </a:xfrm>
          <a:prstGeom prst="rect">
            <a:avLst/>
          </a:prstGeom>
          <a:noFill/>
          <a:ln/>
        </p:spPr>
        <p:txBody>
          <a:bodyPr wrap="square" lIns="0" tIns="0" rIns="0" bIns="0" rtlCol="0" anchor="t"/>
          <a:lstStyle/>
          <a:p>
            <a:pPr algn="r" indent="0" marL="0">
              <a:lnSpc>
                <a:spcPts val="1300"/>
              </a:lnSpc>
              <a:buNone/>
            </a:pPr>
            <a:r>
              <a:rPr lang="en-US" sz="1000" dirty="0">
                <a:solidFill>
                  <a:srgbClr val="52525B"/>
                </a:solidFill>
                <a:latin typeface="Segoe UI" pitchFamily="34" charset="0"/>
                <a:ea typeface="Segoe UI" pitchFamily="34" charset="-122"/>
                <a:cs typeface="Segoe UI" pitchFamily="34" charset="-120"/>
              </a:rPr>
              <a:t>4</a:t>
            </a:r>
            <a:endParaRPr lang="en-US" sz="1000" dirty="0"/>
          </a:p>
        </p:txBody>
      </p:sp>
      <p:sp>
        <p:nvSpPr>
          <p:cNvPr id="6" name="Shape 3"/>
          <p:cNvSpPr/>
          <p:nvPr/>
        </p:nvSpPr>
        <p:spPr>
          <a:xfrm>
            <a:off x="731520" y="1463040"/>
            <a:ext cx="7772400" cy="4754880"/>
          </a:xfrm>
          <a:prstGeom prst="roundRect">
            <a:avLst>
              <a:gd name="adj" fmla="val 1538"/>
            </a:avLst>
          </a:prstGeom>
          <a:solidFill>
            <a:srgbClr val="FFFFFF"/>
          </a:solidFill>
          <a:ln w="9525">
            <a:solidFill>
              <a:srgbClr val="D4D4D8"/>
            </a:solidFill>
            <a:prstDash val="solid"/>
          </a:ln>
        </p:spPr>
      </p:sp>
      <p:pic>
        <p:nvPicPr>
          <p:cNvPr id="7" name="Image 0" descr="C:\Users\vidya\AppData\Local\Temp\claude\D--Madhumitha-CyberSecurity\42d0cf26-ccc7-468c-a7ce-e789dbb7f4d9\scratchpad\deck\arch_full.jpg">    </p:cNvPr>
          <p:cNvPicPr>
            <a:picLocks noChangeAspect="1"/>
          </p:cNvPicPr>
          <p:nvPr/>
        </p:nvPicPr>
        <p:blipFill>
          <a:blip r:embed="rId1"/>
          <a:stretch>
            <a:fillRect/>
          </a:stretch>
        </p:blipFill>
        <p:spPr>
          <a:xfrm>
            <a:off x="1257300" y="1554480"/>
            <a:ext cx="6720840" cy="4480560"/>
          </a:xfrm>
          <a:prstGeom prst="rect">
            <a:avLst/>
          </a:prstGeom>
        </p:spPr>
      </p:pic>
      <p:sp>
        <p:nvSpPr>
          <p:cNvPr id="8" name="Text 4"/>
          <p:cNvSpPr/>
          <p:nvPr/>
        </p:nvSpPr>
        <p:spPr>
          <a:xfrm>
            <a:off x="9052560" y="1417320"/>
            <a:ext cx="2377440" cy="1097280"/>
          </a:xfrm>
          <a:prstGeom prst="rect">
            <a:avLst/>
          </a:prstGeom>
          <a:noFill/>
          <a:ln/>
        </p:spPr>
        <p:txBody>
          <a:bodyPr wrap="square" lIns="0" tIns="0" rIns="0" bIns="0" rtlCol="0" anchor="t"/>
          <a:lstStyle/>
          <a:p>
            <a:pPr algn="l" indent="0" marL="0">
              <a:lnSpc>
                <a:spcPts val="7200"/>
              </a:lnSpc>
              <a:buNone/>
            </a:pPr>
            <a:r>
              <a:rPr lang="en-US" sz="7200" spc="-200" kern="0" dirty="0">
                <a:solidFill>
                  <a:srgbClr val="047857"/>
                </a:solidFill>
                <a:latin typeface="Bahnschrift SemiBold" pitchFamily="34" charset="0"/>
                <a:ea typeface="Bahnschrift SemiBold" pitchFamily="34" charset="-122"/>
                <a:cs typeface="Bahnschrift SemiBold" pitchFamily="34" charset="-120"/>
              </a:rPr>
              <a:t>10</a:t>
            </a:r>
            <a:endParaRPr lang="en-US" sz="7200" dirty="0"/>
          </a:p>
        </p:txBody>
      </p:sp>
      <p:sp>
        <p:nvSpPr>
          <p:cNvPr id="9" name="Text 5"/>
          <p:cNvSpPr/>
          <p:nvPr/>
        </p:nvSpPr>
        <p:spPr>
          <a:xfrm>
            <a:off x="9052560" y="2514600"/>
            <a:ext cx="2377440" cy="640080"/>
          </a:xfrm>
          <a:prstGeom prst="rect">
            <a:avLst/>
          </a:prstGeom>
          <a:noFill/>
          <a:ln/>
        </p:spPr>
        <p:txBody>
          <a:bodyPr wrap="square" lIns="0" tIns="0" rIns="0" bIns="0" rtlCol="0" anchor="t"/>
          <a:lstStyle/>
          <a:p>
            <a:pPr algn="l" indent="0" marL="0">
              <a:lnSpc>
                <a:spcPts val="2000"/>
              </a:lnSpc>
              <a:buNone/>
            </a:pPr>
            <a:r>
              <a:rPr lang="en-US" sz="1500" dirty="0">
                <a:solidFill>
                  <a:srgbClr val="52525B"/>
                </a:solidFill>
                <a:latin typeface="Segoe UI" pitchFamily="34" charset="0"/>
                <a:ea typeface="Segoe UI" pitchFamily="34" charset="-122"/>
                <a:cs typeface="Segoe UI" pitchFamily="34" charset="-120"/>
              </a:rPr>
              <a:t>components in one lifecycle</a:t>
            </a:r>
            <a:endParaRPr lang="en-US" sz="1500" dirty="0"/>
          </a:p>
        </p:txBody>
      </p:sp>
      <p:sp>
        <p:nvSpPr>
          <p:cNvPr id="10" name="Text 6"/>
          <p:cNvSpPr/>
          <p:nvPr/>
        </p:nvSpPr>
        <p:spPr>
          <a:xfrm>
            <a:off x="9052560" y="3520440"/>
            <a:ext cx="2377440" cy="365760"/>
          </a:xfrm>
          <a:prstGeom prst="rect">
            <a:avLst/>
          </a:prstGeom>
          <a:noFill/>
          <a:ln/>
        </p:spPr>
        <p:txBody>
          <a:bodyPr wrap="square" lIns="0" tIns="0" rIns="0" bIns="0" rtlCol="0" anchor="t"/>
          <a:lstStyle/>
          <a:p>
            <a:pPr algn="l" indent="0" marL="0">
              <a:lnSpc>
                <a:spcPts val="2300"/>
              </a:lnSpc>
              <a:buNone/>
            </a:pPr>
            <a:r>
              <a:rPr lang="en-US" sz="1800" dirty="0">
                <a:solidFill>
                  <a:srgbClr val="18181B"/>
                </a:solidFill>
                <a:latin typeface="Bahnschrift SemiBold" pitchFamily="34" charset="0"/>
                <a:ea typeface="Bahnschrift SemiBold" pitchFamily="34" charset="-122"/>
                <a:cs typeface="Bahnschrift SemiBold" pitchFamily="34" charset="-120"/>
              </a:rPr>
              <a:t>Detect</a:t>
            </a:r>
            <a:endParaRPr lang="en-US" sz="1800" dirty="0"/>
          </a:p>
        </p:txBody>
      </p:sp>
      <p:sp>
        <p:nvSpPr>
          <p:cNvPr id="11" name="Text 7"/>
          <p:cNvSpPr/>
          <p:nvPr/>
        </p:nvSpPr>
        <p:spPr>
          <a:xfrm>
            <a:off x="9052560" y="3977640"/>
            <a:ext cx="2377440" cy="365760"/>
          </a:xfrm>
          <a:prstGeom prst="rect">
            <a:avLst/>
          </a:prstGeom>
          <a:noFill/>
          <a:ln/>
        </p:spPr>
        <p:txBody>
          <a:bodyPr wrap="square" lIns="0" tIns="0" rIns="0" bIns="0" rtlCol="0" anchor="t"/>
          <a:lstStyle/>
          <a:p>
            <a:pPr algn="l" indent="0" marL="0">
              <a:lnSpc>
                <a:spcPts val="2300"/>
              </a:lnSpc>
              <a:buNone/>
            </a:pPr>
            <a:r>
              <a:rPr lang="en-US" sz="1800" dirty="0">
                <a:solidFill>
                  <a:srgbClr val="18181B"/>
                </a:solidFill>
                <a:latin typeface="Bahnschrift SemiBold" pitchFamily="34" charset="0"/>
                <a:ea typeface="Bahnschrift SemiBold" pitchFamily="34" charset="-122"/>
                <a:cs typeface="Bahnschrift SemiBold" pitchFamily="34" charset="-120"/>
              </a:rPr>
              <a:t>Analyse</a:t>
            </a:r>
            <a:endParaRPr lang="en-US" sz="1800" dirty="0"/>
          </a:p>
        </p:txBody>
      </p:sp>
      <p:sp>
        <p:nvSpPr>
          <p:cNvPr id="12" name="Text 8"/>
          <p:cNvSpPr/>
          <p:nvPr/>
        </p:nvSpPr>
        <p:spPr>
          <a:xfrm>
            <a:off x="9052560" y="4434840"/>
            <a:ext cx="2377440" cy="365760"/>
          </a:xfrm>
          <a:prstGeom prst="rect">
            <a:avLst/>
          </a:prstGeom>
          <a:noFill/>
          <a:ln/>
        </p:spPr>
        <p:txBody>
          <a:bodyPr wrap="square" lIns="0" tIns="0" rIns="0" bIns="0" rtlCol="0" anchor="t"/>
          <a:lstStyle/>
          <a:p>
            <a:pPr algn="l" indent="0" marL="0">
              <a:lnSpc>
                <a:spcPts val="2300"/>
              </a:lnSpc>
              <a:buNone/>
            </a:pPr>
            <a:r>
              <a:rPr lang="en-US" sz="1800" dirty="0">
                <a:solidFill>
                  <a:srgbClr val="18181B"/>
                </a:solidFill>
                <a:latin typeface="Bahnschrift SemiBold" pitchFamily="34" charset="0"/>
                <a:ea typeface="Bahnschrift SemiBold" pitchFamily="34" charset="-122"/>
                <a:cs typeface="Bahnschrift SemiBold" pitchFamily="34" charset="-120"/>
              </a:rPr>
              <a:t>Investigate</a:t>
            </a:r>
            <a:endParaRPr lang="en-US" sz="1800" dirty="0"/>
          </a:p>
        </p:txBody>
      </p:sp>
      <p:sp>
        <p:nvSpPr>
          <p:cNvPr id="13" name="Text 9"/>
          <p:cNvSpPr/>
          <p:nvPr/>
        </p:nvSpPr>
        <p:spPr>
          <a:xfrm>
            <a:off x="9052560" y="4892040"/>
            <a:ext cx="2377440" cy="365760"/>
          </a:xfrm>
          <a:prstGeom prst="rect">
            <a:avLst/>
          </a:prstGeom>
          <a:noFill/>
          <a:ln/>
        </p:spPr>
        <p:txBody>
          <a:bodyPr wrap="square" lIns="0" tIns="0" rIns="0" bIns="0" rtlCol="0" anchor="t"/>
          <a:lstStyle/>
          <a:p>
            <a:pPr algn="l" indent="0" marL="0">
              <a:lnSpc>
                <a:spcPts val="2300"/>
              </a:lnSpc>
              <a:buNone/>
            </a:pPr>
            <a:r>
              <a:rPr lang="en-US" sz="1800" dirty="0">
                <a:solidFill>
                  <a:srgbClr val="18181B"/>
                </a:solidFill>
                <a:latin typeface="Bahnschrift SemiBold" pitchFamily="34" charset="0"/>
                <a:ea typeface="Bahnschrift SemiBold" pitchFamily="34" charset="-122"/>
                <a:cs typeface="Bahnschrift SemiBold" pitchFamily="34" charset="-120"/>
              </a:rPr>
              <a:t>Respond</a:t>
            </a:r>
            <a:endParaRPr lang="en-US" sz="1800" dirty="0"/>
          </a:p>
        </p:txBody>
      </p:sp>
      <p:sp>
        <p:nvSpPr>
          <p:cNvPr id="14" name="Text 10"/>
          <p:cNvSpPr/>
          <p:nvPr/>
        </p:nvSpPr>
        <p:spPr>
          <a:xfrm>
            <a:off x="9052560" y="5349240"/>
            <a:ext cx="2377440" cy="365760"/>
          </a:xfrm>
          <a:prstGeom prst="rect">
            <a:avLst/>
          </a:prstGeom>
          <a:noFill/>
          <a:ln/>
        </p:spPr>
        <p:txBody>
          <a:bodyPr wrap="square" lIns="0" tIns="0" rIns="0" bIns="0" rtlCol="0" anchor="t"/>
          <a:lstStyle/>
          <a:p>
            <a:pPr algn="l" indent="0" marL="0">
              <a:lnSpc>
                <a:spcPts val="2300"/>
              </a:lnSpc>
              <a:buNone/>
            </a:pPr>
            <a:r>
              <a:rPr lang="en-US" sz="1800" dirty="0">
                <a:solidFill>
                  <a:srgbClr val="18181B"/>
                </a:solidFill>
                <a:latin typeface="Bahnschrift SemiBold" pitchFamily="34" charset="0"/>
                <a:ea typeface="Bahnschrift SemiBold" pitchFamily="34" charset="-122"/>
                <a:cs typeface="Bahnschrift SemiBold" pitchFamily="34" charset="-120"/>
              </a:rPr>
              <a:t>Report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566928"/>
            <a:ext cx="10698480" cy="731520"/>
          </a:xfrm>
          <a:prstGeom prst="rect">
            <a:avLst/>
          </a:prstGeom>
          <a:noFill/>
          <a:ln/>
        </p:spPr>
        <p:txBody>
          <a:bodyPr wrap="square" lIns="0" tIns="0" rIns="0" bIns="0" rtlCol="0" anchor="t"/>
          <a:lstStyle/>
          <a:p>
            <a:pPr algn="l" indent="0" marL="0">
              <a:lnSpc>
                <a:spcPts val="3900"/>
              </a:lnSpc>
              <a:buNone/>
            </a:pPr>
            <a:r>
              <a:rPr lang="en-US" sz="3400" spc="-50" kern="0" dirty="0">
                <a:solidFill>
                  <a:srgbClr val="18181B"/>
                </a:solidFill>
                <a:latin typeface="Bahnschrift SemiBold" pitchFamily="34" charset="0"/>
                <a:ea typeface="Bahnschrift SemiBold" pitchFamily="34" charset="-122"/>
                <a:cs typeface="Bahnschrift SemiBold" pitchFamily="34" charset="-120"/>
              </a:rPr>
              <a:t>Six steps from alert to report</a:t>
            </a:r>
            <a:endParaRPr lang="en-US" sz="3400" dirty="0"/>
          </a:p>
        </p:txBody>
      </p:sp>
      <p:sp>
        <p:nvSpPr>
          <p:cNvPr id="3" name="Text 1"/>
          <p:cNvSpPr/>
          <p:nvPr/>
        </p:nvSpPr>
        <p:spPr>
          <a:xfrm>
            <a:off x="731520" y="6400800"/>
            <a:ext cx="3657600" cy="228600"/>
          </a:xfrm>
          <a:prstGeom prst="rect">
            <a:avLst/>
          </a:prstGeom>
          <a:noFill/>
          <a:ln/>
        </p:spPr>
        <p:txBody>
          <a:bodyPr wrap="square" lIns="0" tIns="0" rIns="0" bIns="0" rtlCol="0" anchor="t"/>
          <a:lstStyle/>
          <a:p>
            <a:pPr algn="l" indent="0" marL="0">
              <a:lnSpc>
                <a:spcPts val="1300"/>
              </a:lnSpc>
              <a:buNone/>
            </a:pPr>
            <a:r>
              <a:rPr lang="en-US" sz="1000" dirty="0">
                <a:solidFill>
                  <a:srgbClr val="52525B"/>
                </a:solidFill>
                <a:latin typeface="Segoe UI" pitchFamily="34" charset="0"/>
                <a:ea typeface="Segoe UI" pitchFamily="34" charset="-122"/>
                <a:cs typeface="Segoe UI" pitchFamily="34" charset="-120"/>
              </a:rPr>
              <a:t>Incident Response Assistant</a:t>
            </a:r>
            <a:endParaRPr lang="en-US" sz="1000" dirty="0"/>
          </a:p>
        </p:txBody>
      </p:sp>
      <p:sp>
        <p:nvSpPr>
          <p:cNvPr id="4" name="Text 2"/>
          <p:cNvSpPr/>
          <p:nvPr/>
        </p:nvSpPr>
        <p:spPr>
          <a:xfrm>
            <a:off x="10725912" y="6400800"/>
            <a:ext cx="731520" cy="228600"/>
          </a:xfrm>
          <a:prstGeom prst="rect">
            <a:avLst/>
          </a:prstGeom>
          <a:noFill/>
          <a:ln/>
        </p:spPr>
        <p:txBody>
          <a:bodyPr wrap="square" lIns="0" tIns="0" rIns="0" bIns="0" rtlCol="0" anchor="t"/>
          <a:lstStyle/>
          <a:p>
            <a:pPr algn="r" indent="0" marL="0">
              <a:lnSpc>
                <a:spcPts val="1300"/>
              </a:lnSpc>
              <a:buNone/>
            </a:pPr>
            <a:r>
              <a:rPr lang="en-US" sz="1000" dirty="0">
                <a:solidFill>
                  <a:srgbClr val="52525B"/>
                </a:solidFill>
                <a:latin typeface="Segoe UI" pitchFamily="34" charset="0"/>
                <a:ea typeface="Segoe UI" pitchFamily="34" charset="-122"/>
                <a:cs typeface="Segoe UI" pitchFamily="34" charset="-120"/>
              </a:rPr>
              <a:t>5</a:t>
            </a:r>
            <a:endParaRPr lang="en-US" sz="1000" dirty="0"/>
          </a:p>
        </p:txBody>
      </p:sp>
      <p:sp>
        <p:nvSpPr>
          <p:cNvPr id="6" name="Shape 3"/>
          <p:cNvSpPr/>
          <p:nvPr/>
        </p:nvSpPr>
        <p:spPr>
          <a:xfrm>
            <a:off x="731520" y="1828800"/>
            <a:ext cx="1600200" cy="41148"/>
          </a:xfrm>
          <a:prstGeom prst="rect">
            <a:avLst/>
          </a:prstGeom>
          <a:solidFill>
            <a:srgbClr val="047857"/>
          </a:solidFill>
          <a:ln/>
        </p:spPr>
      </p:sp>
      <p:sp>
        <p:nvSpPr>
          <p:cNvPr id="7" name="Text 4"/>
          <p:cNvSpPr/>
          <p:nvPr/>
        </p:nvSpPr>
        <p:spPr>
          <a:xfrm>
            <a:off x="731520" y="2011680"/>
            <a:ext cx="1600200" cy="411480"/>
          </a:xfrm>
          <a:prstGeom prst="rect">
            <a:avLst/>
          </a:prstGeom>
          <a:noFill/>
          <a:ln/>
        </p:spPr>
        <p:txBody>
          <a:bodyPr wrap="square" lIns="0" tIns="0" rIns="0" bIns="0" rtlCol="0" anchor="t"/>
          <a:lstStyle/>
          <a:p>
            <a:pPr algn="l" indent="0" marL="0">
              <a:lnSpc>
                <a:spcPts val="2700"/>
              </a:lnSpc>
              <a:buNone/>
            </a:pPr>
            <a:r>
              <a:rPr lang="en-US" sz="2100" dirty="0">
                <a:solidFill>
                  <a:srgbClr val="18181B"/>
                </a:solidFill>
                <a:latin typeface="Bahnschrift SemiBold" pitchFamily="34" charset="0"/>
                <a:ea typeface="Bahnschrift SemiBold" pitchFamily="34" charset="-122"/>
                <a:cs typeface="Bahnschrift SemiBold" pitchFamily="34" charset="-120"/>
              </a:rPr>
              <a:t>Validate</a:t>
            </a:r>
            <a:endParaRPr lang="en-US" sz="2100" dirty="0"/>
          </a:p>
        </p:txBody>
      </p:sp>
      <p:sp>
        <p:nvSpPr>
          <p:cNvPr id="8" name="Text 5"/>
          <p:cNvSpPr/>
          <p:nvPr/>
        </p:nvSpPr>
        <p:spPr>
          <a:xfrm>
            <a:off x="731520" y="2514600"/>
            <a:ext cx="1508760" cy="1371600"/>
          </a:xfrm>
          <a:prstGeom prst="rect">
            <a:avLst/>
          </a:prstGeom>
          <a:noFill/>
          <a:ln/>
        </p:spPr>
        <p:txBody>
          <a:bodyPr wrap="square" lIns="0" tIns="0" rIns="0" bIns="0" rtlCol="0" anchor="t"/>
          <a:lstStyle/>
          <a:p>
            <a:pPr algn="l" indent="0" marL="0">
              <a:lnSpc>
                <a:spcPts val="1800"/>
              </a:lnSpc>
              <a:buNone/>
            </a:pPr>
            <a:r>
              <a:rPr lang="en-US" sz="1300" dirty="0">
                <a:solidFill>
                  <a:srgbClr val="52525B"/>
                </a:solidFill>
                <a:latin typeface="Segoe UI" pitchFamily="34" charset="0"/>
                <a:ea typeface="Segoe UI" pitchFamily="34" charset="-122"/>
                <a:cs typeface="Segoe UI" pitchFamily="34" charset="-120"/>
              </a:rPr>
              <a:t>Schema, IP and port bounds, injection screen</a:t>
            </a:r>
            <a:endParaRPr lang="en-US" sz="1300" dirty="0"/>
          </a:p>
        </p:txBody>
      </p:sp>
      <p:sp>
        <p:nvSpPr>
          <p:cNvPr id="9" name="Shape 6"/>
          <p:cNvSpPr/>
          <p:nvPr/>
        </p:nvSpPr>
        <p:spPr>
          <a:xfrm>
            <a:off x="2556662" y="1828800"/>
            <a:ext cx="1600200" cy="41148"/>
          </a:xfrm>
          <a:prstGeom prst="rect">
            <a:avLst/>
          </a:prstGeom>
          <a:solidFill>
            <a:srgbClr val="047857"/>
          </a:solidFill>
          <a:ln/>
        </p:spPr>
      </p:sp>
      <p:sp>
        <p:nvSpPr>
          <p:cNvPr id="10" name="Text 7"/>
          <p:cNvSpPr/>
          <p:nvPr/>
        </p:nvSpPr>
        <p:spPr>
          <a:xfrm>
            <a:off x="2556662" y="2011680"/>
            <a:ext cx="1600200" cy="411480"/>
          </a:xfrm>
          <a:prstGeom prst="rect">
            <a:avLst/>
          </a:prstGeom>
          <a:noFill/>
          <a:ln/>
        </p:spPr>
        <p:txBody>
          <a:bodyPr wrap="square" lIns="0" tIns="0" rIns="0" bIns="0" rtlCol="0" anchor="t"/>
          <a:lstStyle/>
          <a:p>
            <a:pPr algn="l" indent="0" marL="0">
              <a:lnSpc>
                <a:spcPts val="2700"/>
              </a:lnSpc>
              <a:buNone/>
            </a:pPr>
            <a:r>
              <a:rPr lang="en-US" sz="2100" dirty="0">
                <a:solidFill>
                  <a:srgbClr val="18181B"/>
                </a:solidFill>
                <a:latin typeface="Bahnschrift SemiBold" pitchFamily="34" charset="0"/>
                <a:ea typeface="Bahnschrift SemiBold" pitchFamily="34" charset="-122"/>
                <a:cs typeface="Bahnschrift SemiBold" pitchFamily="34" charset="-120"/>
              </a:rPr>
              <a:t>Detect</a:t>
            </a:r>
            <a:endParaRPr lang="en-US" sz="2100" dirty="0"/>
          </a:p>
        </p:txBody>
      </p:sp>
      <p:sp>
        <p:nvSpPr>
          <p:cNvPr id="11" name="Text 8"/>
          <p:cNvSpPr/>
          <p:nvPr/>
        </p:nvSpPr>
        <p:spPr>
          <a:xfrm>
            <a:off x="2556662" y="2514600"/>
            <a:ext cx="1508760" cy="1371600"/>
          </a:xfrm>
          <a:prstGeom prst="rect">
            <a:avLst/>
          </a:prstGeom>
          <a:noFill/>
          <a:ln/>
        </p:spPr>
        <p:txBody>
          <a:bodyPr wrap="square" lIns="0" tIns="0" rIns="0" bIns="0" rtlCol="0" anchor="t"/>
          <a:lstStyle/>
          <a:p>
            <a:pPr algn="l" indent="0" marL="0">
              <a:lnSpc>
                <a:spcPts val="1800"/>
              </a:lnSpc>
              <a:buNone/>
            </a:pPr>
            <a:r>
              <a:rPr lang="en-US" sz="1300" dirty="0">
                <a:solidFill>
                  <a:srgbClr val="52525B"/>
                </a:solidFill>
                <a:latin typeface="Segoe UI" pitchFamily="34" charset="0"/>
                <a:ea typeface="Segoe UI" pitchFamily="34" charset="-122"/>
                <a:cs typeface="Segoe UI" pitchFamily="34" charset="-120"/>
              </a:rPr>
              <a:t>Attack family, intrusion and anomaly scores, SHAP drivers</a:t>
            </a:r>
            <a:endParaRPr lang="en-US" sz="1300" dirty="0"/>
          </a:p>
        </p:txBody>
      </p:sp>
      <p:sp>
        <p:nvSpPr>
          <p:cNvPr id="12" name="Shape 9"/>
          <p:cNvSpPr/>
          <p:nvPr/>
        </p:nvSpPr>
        <p:spPr>
          <a:xfrm>
            <a:off x="4381805" y="1828800"/>
            <a:ext cx="1600200" cy="41148"/>
          </a:xfrm>
          <a:prstGeom prst="rect">
            <a:avLst/>
          </a:prstGeom>
          <a:solidFill>
            <a:srgbClr val="047857"/>
          </a:solidFill>
          <a:ln/>
        </p:spPr>
      </p:sp>
      <p:sp>
        <p:nvSpPr>
          <p:cNvPr id="13" name="Text 10"/>
          <p:cNvSpPr/>
          <p:nvPr/>
        </p:nvSpPr>
        <p:spPr>
          <a:xfrm>
            <a:off x="4381805" y="2011680"/>
            <a:ext cx="1600200" cy="411480"/>
          </a:xfrm>
          <a:prstGeom prst="rect">
            <a:avLst/>
          </a:prstGeom>
          <a:noFill/>
          <a:ln/>
        </p:spPr>
        <p:txBody>
          <a:bodyPr wrap="square" lIns="0" tIns="0" rIns="0" bIns="0" rtlCol="0" anchor="t"/>
          <a:lstStyle/>
          <a:p>
            <a:pPr algn="l" indent="0" marL="0">
              <a:lnSpc>
                <a:spcPts val="2700"/>
              </a:lnSpc>
              <a:buNone/>
            </a:pPr>
            <a:r>
              <a:rPr lang="en-US" sz="2100" dirty="0">
                <a:solidFill>
                  <a:srgbClr val="18181B"/>
                </a:solidFill>
                <a:latin typeface="Bahnschrift SemiBold" pitchFamily="34" charset="0"/>
                <a:ea typeface="Bahnschrift SemiBold" pitchFamily="34" charset="-122"/>
                <a:cs typeface="Bahnschrift SemiBold" pitchFamily="34" charset="-120"/>
              </a:rPr>
              <a:t>Analyse</a:t>
            </a:r>
            <a:endParaRPr lang="en-US" sz="2100" dirty="0"/>
          </a:p>
        </p:txBody>
      </p:sp>
      <p:sp>
        <p:nvSpPr>
          <p:cNvPr id="14" name="Text 11"/>
          <p:cNvSpPr/>
          <p:nvPr/>
        </p:nvSpPr>
        <p:spPr>
          <a:xfrm>
            <a:off x="4381805" y="2514600"/>
            <a:ext cx="1508760" cy="1371600"/>
          </a:xfrm>
          <a:prstGeom prst="rect">
            <a:avLst/>
          </a:prstGeom>
          <a:noFill/>
          <a:ln/>
        </p:spPr>
        <p:txBody>
          <a:bodyPr wrap="square" lIns="0" tIns="0" rIns="0" bIns="0" rtlCol="0" anchor="t"/>
          <a:lstStyle/>
          <a:p>
            <a:pPr algn="l" indent="0" marL="0">
              <a:lnSpc>
                <a:spcPts val="1800"/>
              </a:lnSpc>
              <a:buNone/>
            </a:pPr>
            <a:r>
              <a:rPr lang="en-US" sz="1300" dirty="0">
                <a:solidFill>
                  <a:srgbClr val="52525B"/>
                </a:solidFill>
                <a:latin typeface="Segoe UI" pitchFamily="34" charset="0"/>
                <a:ea typeface="Segoe UI" pitchFamily="34" charset="-122"/>
                <a:cs typeface="Segoe UI" pitchFamily="34" charset="-120"/>
              </a:rPr>
              <a:t>Hybrid search across 4,236 past incidents</a:t>
            </a:r>
            <a:endParaRPr lang="en-US" sz="1300" dirty="0"/>
          </a:p>
        </p:txBody>
      </p:sp>
      <p:sp>
        <p:nvSpPr>
          <p:cNvPr id="15" name="Shape 12"/>
          <p:cNvSpPr/>
          <p:nvPr/>
        </p:nvSpPr>
        <p:spPr>
          <a:xfrm>
            <a:off x="6206947" y="1828800"/>
            <a:ext cx="1600200" cy="41148"/>
          </a:xfrm>
          <a:prstGeom prst="rect">
            <a:avLst/>
          </a:prstGeom>
          <a:solidFill>
            <a:srgbClr val="047857"/>
          </a:solidFill>
          <a:ln/>
        </p:spPr>
      </p:sp>
      <p:sp>
        <p:nvSpPr>
          <p:cNvPr id="16" name="Text 13"/>
          <p:cNvSpPr/>
          <p:nvPr/>
        </p:nvSpPr>
        <p:spPr>
          <a:xfrm>
            <a:off x="6206947" y="2011680"/>
            <a:ext cx="1600200" cy="411480"/>
          </a:xfrm>
          <a:prstGeom prst="rect">
            <a:avLst/>
          </a:prstGeom>
          <a:noFill/>
          <a:ln/>
        </p:spPr>
        <p:txBody>
          <a:bodyPr wrap="square" lIns="0" tIns="0" rIns="0" bIns="0" rtlCol="0" anchor="t"/>
          <a:lstStyle/>
          <a:p>
            <a:pPr algn="l" indent="0" marL="0">
              <a:lnSpc>
                <a:spcPts val="2700"/>
              </a:lnSpc>
              <a:buNone/>
            </a:pPr>
            <a:r>
              <a:rPr lang="en-US" sz="2100" dirty="0">
                <a:solidFill>
                  <a:srgbClr val="18181B"/>
                </a:solidFill>
                <a:latin typeface="Bahnschrift SemiBold" pitchFamily="34" charset="0"/>
                <a:ea typeface="Bahnschrift SemiBold" pitchFamily="34" charset="-122"/>
                <a:cs typeface="Bahnschrift SemiBold" pitchFamily="34" charset="-120"/>
              </a:rPr>
              <a:t>Score</a:t>
            </a:r>
            <a:endParaRPr lang="en-US" sz="2100" dirty="0"/>
          </a:p>
        </p:txBody>
      </p:sp>
      <p:sp>
        <p:nvSpPr>
          <p:cNvPr id="17" name="Text 14"/>
          <p:cNvSpPr/>
          <p:nvPr/>
        </p:nvSpPr>
        <p:spPr>
          <a:xfrm>
            <a:off x="6206947" y="2514600"/>
            <a:ext cx="1508760" cy="1371600"/>
          </a:xfrm>
          <a:prstGeom prst="rect">
            <a:avLst/>
          </a:prstGeom>
          <a:noFill/>
          <a:ln/>
        </p:spPr>
        <p:txBody>
          <a:bodyPr wrap="square" lIns="0" tIns="0" rIns="0" bIns="0" rtlCol="0" anchor="t"/>
          <a:lstStyle/>
          <a:p>
            <a:pPr algn="l" indent="0" marL="0">
              <a:lnSpc>
                <a:spcPts val="1800"/>
              </a:lnSpc>
              <a:buNone/>
            </a:pPr>
            <a:r>
              <a:rPr lang="en-US" sz="1300" dirty="0">
                <a:solidFill>
                  <a:srgbClr val="52525B"/>
                </a:solidFill>
                <a:latin typeface="Segoe UI" pitchFamily="34" charset="0"/>
                <a:ea typeface="Segoe UI" pitchFamily="34" charset="-122"/>
                <a:cs typeface="Segoe UI" pitchFamily="34" charset="-120"/>
              </a:rPr>
              <a:t>Weighted 0 to 100 risk, priority P1 to P4</a:t>
            </a:r>
            <a:endParaRPr lang="en-US" sz="1300" dirty="0"/>
          </a:p>
        </p:txBody>
      </p:sp>
      <p:sp>
        <p:nvSpPr>
          <p:cNvPr id="18" name="Shape 15"/>
          <p:cNvSpPr/>
          <p:nvPr/>
        </p:nvSpPr>
        <p:spPr>
          <a:xfrm>
            <a:off x="8032090" y="1828800"/>
            <a:ext cx="1600200" cy="41148"/>
          </a:xfrm>
          <a:prstGeom prst="rect">
            <a:avLst/>
          </a:prstGeom>
          <a:solidFill>
            <a:srgbClr val="047857"/>
          </a:solidFill>
          <a:ln/>
        </p:spPr>
      </p:sp>
      <p:sp>
        <p:nvSpPr>
          <p:cNvPr id="19" name="Text 16"/>
          <p:cNvSpPr/>
          <p:nvPr/>
        </p:nvSpPr>
        <p:spPr>
          <a:xfrm>
            <a:off x="8032090" y="2011680"/>
            <a:ext cx="1600200" cy="411480"/>
          </a:xfrm>
          <a:prstGeom prst="rect">
            <a:avLst/>
          </a:prstGeom>
          <a:noFill/>
          <a:ln/>
        </p:spPr>
        <p:txBody>
          <a:bodyPr wrap="square" lIns="0" tIns="0" rIns="0" bIns="0" rtlCol="0" anchor="t"/>
          <a:lstStyle/>
          <a:p>
            <a:pPr algn="l" indent="0" marL="0">
              <a:lnSpc>
                <a:spcPts val="2700"/>
              </a:lnSpc>
              <a:buNone/>
            </a:pPr>
            <a:r>
              <a:rPr lang="en-US" sz="2100" dirty="0">
                <a:solidFill>
                  <a:srgbClr val="18181B"/>
                </a:solidFill>
                <a:latin typeface="Bahnschrift SemiBold" pitchFamily="34" charset="0"/>
                <a:ea typeface="Bahnschrift SemiBold" pitchFamily="34" charset="-122"/>
                <a:cs typeface="Bahnschrift SemiBold" pitchFamily="34" charset="-120"/>
              </a:rPr>
              <a:t>Respond</a:t>
            </a:r>
            <a:endParaRPr lang="en-US" sz="2100" dirty="0"/>
          </a:p>
        </p:txBody>
      </p:sp>
      <p:sp>
        <p:nvSpPr>
          <p:cNvPr id="20" name="Text 17"/>
          <p:cNvSpPr/>
          <p:nvPr/>
        </p:nvSpPr>
        <p:spPr>
          <a:xfrm>
            <a:off x="8032090" y="2514600"/>
            <a:ext cx="1508760" cy="1371600"/>
          </a:xfrm>
          <a:prstGeom prst="rect">
            <a:avLst/>
          </a:prstGeom>
          <a:noFill/>
          <a:ln/>
        </p:spPr>
        <p:txBody>
          <a:bodyPr wrap="square" lIns="0" tIns="0" rIns="0" bIns="0" rtlCol="0" anchor="t"/>
          <a:lstStyle/>
          <a:p>
            <a:pPr algn="l" indent="0" marL="0">
              <a:lnSpc>
                <a:spcPts val="1800"/>
              </a:lnSpc>
              <a:buNone/>
            </a:pPr>
            <a:r>
              <a:rPr lang="en-US" sz="1300" dirty="0">
                <a:solidFill>
                  <a:srgbClr val="52525B"/>
                </a:solidFill>
                <a:latin typeface="Segoe UI" pitchFamily="34" charset="0"/>
                <a:ea typeface="Segoe UI" pitchFamily="34" charset="-122"/>
                <a:cs typeface="Segoe UI" pitchFamily="34" charset="-120"/>
              </a:rPr>
              <a:t>LLM drafts the report and containment playbook</a:t>
            </a:r>
            <a:endParaRPr lang="en-US" sz="1300" dirty="0"/>
          </a:p>
        </p:txBody>
      </p:sp>
      <p:sp>
        <p:nvSpPr>
          <p:cNvPr id="21" name="Shape 18"/>
          <p:cNvSpPr/>
          <p:nvPr/>
        </p:nvSpPr>
        <p:spPr>
          <a:xfrm>
            <a:off x="9857232" y="1828800"/>
            <a:ext cx="1600200" cy="41148"/>
          </a:xfrm>
          <a:prstGeom prst="rect">
            <a:avLst/>
          </a:prstGeom>
          <a:solidFill>
            <a:srgbClr val="047857"/>
          </a:solidFill>
          <a:ln/>
        </p:spPr>
      </p:sp>
      <p:sp>
        <p:nvSpPr>
          <p:cNvPr id="22" name="Text 19"/>
          <p:cNvSpPr/>
          <p:nvPr/>
        </p:nvSpPr>
        <p:spPr>
          <a:xfrm>
            <a:off x="9857232" y="2011680"/>
            <a:ext cx="1600200" cy="411480"/>
          </a:xfrm>
          <a:prstGeom prst="rect">
            <a:avLst/>
          </a:prstGeom>
          <a:noFill/>
          <a:ln/>
        </p:spPr>
        <p:txBody>
          <a:bodyPr wrap="square" lIns="0" tIns="0" rIns="0" bIns="0" rtlCol="0" anchor="t"/>
          <a:lstStyle/>
          <a:p>
            <a:pPr algn="l" indent="0" marL="0">
              <a:lnSpc>
                <a:spcPts val="2700"/>
              </a:lnSpc>
              <a:buNone/>
            </a:pPr>
            <a:r>
              <a:rPr lang="en-US" sz="2100" dirty="0">
                <a:solidFill>
                  <a:srgbClr val="18181B"/>
                </a:solidFill>
                <a:latin typeface="Bahnschrift SemiBold" pitchFamily="34" charset="0"/>
                <a:ea typeface="Bahnschrift SemiBold" pitchFamily="34" charset="-122"/>
                <a:cs typeface="Bahnschrift SemiBold" pitchFamily="34" charset="-120"/>
              </a:rPr>
              <a:t>Verify</a:t>
            </a:r>
            <a:endParaRPr lang="en-US" sz="2100" dirty="0"/>
          </a:p>
        </p:txBody>
      </p:sp>
      <p:sp>
        <p:nvSpPr>
          <p:cNvPr id="23" name="Text 20"/>
          <p:cNvSpPr/>
          <p:nvPr/>
        </p:nvSpPr>
        <p:spPr>
          <a:xfrm>
            <a:off x="9857232" y="2514600"/>
            <a:ext cx="1508760" cy="1371600"/>
          </a:xfrm>
          <a:prstGeom prst="rect">
            <a:avLst/>
          </a:prstGeom>
          <a:noFill/>
          <a:ln/>
        </p:spPr>
        <p:txBody>
          <a:bodyPr wrap="square" lIns="0" tIns="0" rIns="0" bIns="0" rtlCol="0" anchor="t"/>
          <a:lstStyle/>
          <a:p>
            <a:pPr algn="l" indent="0" marL="0">
              <a:lnSpc>
                <a:spcPts val="1800"/>
              </a:lnSpc>
              <a:buNone/>
            </a:pPr>
            <a:r>
              <a:rPr lang="en-US" sz="1300" dirty="0">
                <a:solidFill>
                  <a:srgbClr val="52525B"/>
                </a:solidFill>
                <a:latin typeface="Segoe UI" pitchFamily="34" charset="0"/>
                <a:ea typeface="Segoe UI" pitchFamily="34" charset="-122"/>
                <a:cs typeface="Segoe UI" pitchFamily="34" charset="-120"/>
              </a:rPr>
              <a:t>Six output checks, analyst approval gate</a:t>
            </a:r>
            <a:endParaRPr lang="en-US" sz="1300" dirty="0"/>
          </a:p>
        </p:txBody>
      </p:sp>
      <p:sp>
        <p:nvSpPr>
          <p:cNvPr id="24" name="Shape 21"/>
          <p:cNvSpPr/>
          <p:nvPr/>
        </p:nvSpPr>
        <p:spPr>
          <a:xfrm>
            <a:off x="731520" y="4206240"/>
            <a:ext cx="10725912" cy="1417320"/>
          </a:xfrm>
          <a:prstGeom prst="roundRect">
            <a:avLst>
              <a:gd name="adj" fmla="val 5161"/>
            </a:avLst>
          </a:prstGeom>
          <a:solidFill>
            <a:srgbClr val="E6F2ED"/>
          </a:solidFill>
          <a:ln/>
        </p:spPr>
      </p:sp>
      <p:sp>
        <p:nvSpPr>
          <p:cNvPr id="25" name="Text 22"/>
          <p:cNvSpPr/>
          <p:nvPr/>
        </p:nvSpPr>
        <p:spPr>
          <a:xfrm>
            <a:off x="1005840" y="4434840"/>
            <a:ext cx="1097280" cy="320040"/>
          </a:xfrm>
          <a:prstGeom prst="rect">
            <a:avLst/>
          </a:prstGeom>
          <a:noFill/>
          <a:ln/>
        </p:spPr>
        <p:txBody>
          <a:bodyPr wrap="square" lIns="0" tIns="0" rIns="0" bIns="0" rtlCol="0" anchor="t"/>
          <a:lstStyle/>
          <a:p>
            <a:pPr algn="l" indent="0" marL="0">
              <a:lnSpc>
                <a:spcPts val="1700"/>
              </a:lnSpc>
              <a:buNone/>
            </a:pPr>
            <a:r>
              <a:rPr lang="en-US" sz="1300" dirty="0">
                <a:solidFill>
                  <a:srgbClr val="047857"/>
                </a:solidFill>
                <a:latin typeface="Bahnschrift SemiBold" pitchFamily="34" charset="0"/>
                <a:ea typeface="Bahnschrift SemiBold" pitchFamily="34" charset="-122"/>
                <a:cs typeface="Bahnschrift SemiBold" pitchFamily="34" charset="-120"/>
              </a:rPr>
              <a:t>In</a:t>
            </a:r>
            <a:endParaRPr lang="en-US" sz="1300" dirty="0"/>
          </a:p>
        </p:txBody>
      </p:sp>
      <p:sp>
        <p:nvSpPr>
          <p:cNvPr id="26" name="Text 23"/>
          <p:cNvSpPr/>
          <p:nvPr/>
        </p:nvSpPr>
        <p:spPr>
          <a:xfrm>
            <a:off x="1005840" y="4754880"/>
            <a:ext cx="3108960" cy="640080"/>
          </a:xfrm>
          <a:prstGeom prst="rect">
            <a:avLst/>
          </a:prstGeom>
          <a:noFill/>
          <a:ln/>
        </p:spPr>
        <p:txBody>
          <a:bodyPr wrap="square" lIns="0" tIns="0" rIns="0" bIns="0" rtlCol="0" anchor="t"/>
          <a:lstStyle/>
          <a:p>
            <a:pPr algn="l" indent="0" marL="0">
              <a:lnSpc>
                <a:spcPts val="2000"/>
              </a:lnSpc>
              <a:buNone/>
            </a:pPr>
            <a:r>
              <a:rPr lang="en-US" sz="1500" dirty="0">
                <a:solidFill>
                  <a:srgbClr val="18181B"/>
                </a:solidFill>
                <a:latin typeface="Segoe UI" pitchFamily="34" charset="0"/>
                <a:ea typeface="Segoe UI" pitchFamily="34" charset="-122"/>
                <a:cs typeface="Segoe UI" pitchFamily="34" charset="-120"/>
              </a:rPr>
              <a:t>Analyst clicks Investigate</a:t>
            </a:r>
            <a:endParaRPr lang="en-US" sz="1500" dirty="0"/>
          </a:p>
        </p:txBody>
      </p:sp>
      <p:sp>
        <p:nvSpPr>
          <p:cNvPr id="27" name="Text 24"/>
          <p:cNvSpPr/>
          <p:nvPr/>
        </p:nvSpPr>
        <p:spPr>
          <a:xfrm>
            <a:off x="4480560" y="4434840"/>
            <a:ext cx="2194560" cy="320040"/>
          </a:xfrm>
          <a:prstGeom prst="rect">
            <a:avLst/>
          </a:prstGeom>
          <a:noFill/>
          <a:ln/>
        </p:spPr>
        <p:txBody>
          <a:bodyPr wrap="square" lIns="0" tIns="0" rIns="0" bIns="0" rtlCol="0" anchor="t"/>
          <a:lstStyle/>
          <a:p>
            <a:pPr algn="l" indent="0" marL="0">
              <a:lnSpc>
                <a:spcPts val="1700"/>
              </a:lnSpc>
              <a:buNone/>
            </a:pPr>
            <a:r>
              <a:rPr lang="en-US" sz="1300" dirty="0">
                <a:solidFill>
                  <a:srgbClr val="047857"/>
                </a:solidFill>
                <a:latin typeface="Bahnschrift SemiBold" pitchFamily="34" charset="0"/>
                <a:ea typeface="Bahnschrift SemiBold" pitchFamily="34" charset="-122"/>
                <a:cs typeface="Bahnschrift SemiBold" pitchFamily="34" charset="-120"/>
              </a:rPr>
              <a:t>Shared state</a:t>
            </a:r>
            <a:endParaRPr lang="en-US" sz="1300" dirty="0"/>
          </a:p>
        </p:txBody>
      </p:sp>
      <p:sp>
        <p:nvSpPr>
          <p:cNvPr id="28" name="Text 25"/>
          <p:cNvSpPr/>
          <p:nvPr/>
        </p:nvSpPr>
        <p:spPr>
          <a:xfrm>
            <a:off x="4480560" y="4754880"/>
            <a:ext cx="3108960" cy="640080"/>
          </a:xfrm>
          <a:prstGeom prst="rect">
            <a:avLst/>
          </a:prstGeom>
          <a:noFill/>
          <a:ln/>
        </p:spPr>
        <p:txBody>
          <a:bodyPr wrap="square" lIns="0" tIns="0" rIns="0" bIns="0" rtlCol="0" anchor="t"/>
          <a:lstStyle/>
          <a:p>
            <a:pPr algn="l" indent="0" marL="0">
              <a:lnSpc>
                <a:spcPts val="2000"/>
              </a:lnSpc>
              <a:buNone/>
            </a:pPr>
            <a:r>
              <a:rPr lang="en-US" sz="1500" dirty="0">
                <a:solidFill>
                  <a:srgbClr val="18181B"/>
                </a:solidFill>
                <a:latin typeface="Segoe UI" pitchFamily="34" charset="0"/>
                <a:ea typeface="Segoe UI" pitchFamily="34" charset="-122"/>
                <a:cs typeface="Segoe UI" pitchFamily="34" charset="-120"/>
              </a:rPr>
              <a:t>One IncidentState carries evidence between nodes</a:t>
            </a:r>
            <a:endParaRPr lang="en-US" sz="1500" dirty="0"/>
          </a:p>
        </p:txBody>
      </p:sp>
      <p:sp>
        <p:nvSpPr>
          <p:cNvPr id="29" name="Text 26"/>
          <p:cNvSpPr/>
          <p:nvPr/>
        </p:nvSpPr>
        <p:spPr>
          <a:xfrm>
            <a:off x="8321040" y="4434840"/>
            <a:ext cx="1097280" cy="320040"/>
          </a:xfrm>
          <a:prstGeom prst="rect">
            <a:avLst/>
          </a:prstGeom>
          <a:noFill/>
          <a:ln/>
        </p:spPr>
        <p:txBody>
          <a:bodyPr wrap="square" lIns="0" tIns="0" rIns="0" bIns="0" rtlCol="0" anchor="t"/>
          <a:lstStyle/>
          <a:p>
            <a:pPr algn="l" indent="0" marL="0">
              <a:lnSpc>
                <a:spcPts val="1700"/>
              </a:lnSpc>
              <a:buNone/>
            </a:pPr>
            <a:r>
              <a:rPr lang="en-US" sz="1300" dirty="0">
                <a:solidFill>
                  <a:srgbClr val="047857"/>
                </a:solidFill>
                <a:latin typeface="Bahnschrift SemiBold" pitchFamily="34" charset="0"/>
                <a:ea typeface="Bahnschrift SemiBold" pitchFamily="34" charset="-122"/>
                <a:cs typeface="Bahnschrift SemiBold" pitchFamily="34" charset="-120"/>
              </a:rPr>
              <a:t>Out</a:t>
            </a:r>
            <a:endParaRPr lang="en-US" sz="1300" dirty="0"/>
          </a:p>
        </p:txBody>
      </p:sp>
      <p:sp>
        <p:nvSpPr>
          <p:cNvPr id="30" name="Text 27"/>
          <p:cNvSpPr/>
          <p:nvPr/>
        </p:nvSpPr>
        <p:spPr>
          <a:xfrm>
            <a:off x="8321040" y="4754880"/>
            <a:ext cx="2926080" cy="640080"/>
          </a:xfrm>
          <a:prstGeom prst="rect">
            <a:avLst/>
          </a:prstGeom>
          <a:noFill/>
          <a:ln/>
        </p:spPr>
        <p:txBody>
          <a:bodyPr wrap="square" lIns="0" tIns="0" rIns="0" bIns="0" rtlCol="0" anchor="t"/>
          <a:lstStyle/>
          <a:p>
            <a:pPr algn="l" indent="0" marL="0">
              <a:lnSpc>
                <a:spcPts val="2000"/>
              </a:lnSpc>
              <a:buNone/>
            </a:pPr>
            <a:r>
              <a:rPr lang="en-US" sz="1500" dirty="0">
                <a:solidFill>
                  <a:srgbClr val="18181B"/>
                </a:solidFill>
                <a:latin typeface="Segoe UI" pitchFamily="34" charset="0"/>
                <a:ea typeface="Segoe UI" pitchFamily="34" charset="-122"/>
                <a:cs typeface="Segoe UI" pitchFamily="34" charset="-120"/>
              </a:rPr>
              <a:t>Report, risk priority and a trace ID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566928"/>
            <a:ext cx="10698480" cy="731520"/>
          </a:xfrm>
          <a:prstGeom prst="rect">
            <a:avLst/>
          </a:prstGeom>
          <a:noFill/>
          <a:ln/>
        </p:spPr>
        <p:txBody>
          <a:bodyPr wrap="square" lIns="0" tIns="0" rIns="0" bIns="0" rtlCol="0" anchor="t"/>
          <a:lstStyle/>
          <a:p>
            <a:pPr algn="l" indent="0" marL="0">
              <a:lnSpc>
                <a:spcPts val="3900"/>
              </a:lnSpc>
              <a:buNone/>
            </a:pPr>
            <a:r>
              <a:rPr lang="en-US" sz="3400" spc="-50" kern="0" dirty="0">
                <a:solidFill>
                  <a:srgbClr val="18181B"/>
                </a:solidFill>
                <a:latin typeface="Bahnschrift SemiBold" pitchFamily="34" charset="0"/>
                <a:ea typeface="Bahnschrift SemiBold" pitchFamily="34" charset="-122"/>
                <a:cs typeface="Bahnschrift SemiBold" pitchFamily="34" charset="-120"/>
              </a:rPr>
              <a:t>What powers each decision</a:t>
            </a:r>
            <a:endParaRPr lang="en-US" sz="3400" dirty="0"/>
          </a:p>
        </p:txBody>
      </p:sp>
      <p:sp>
        <p:nvSpPr>
          <p:cNvPr id="3" name="Text 1"/>
          <p:cNvSpPr/>
          <p:nvPr/>
        </p:nvSpPr>
        <p:spPr>
          <a:xfrm>
            <a:off x="731520" y="6400800"/>
            <a:ext cx="3657600" cy="228600"/>
          </a:xfrm>
          <a:prstGeom prst="rect">
            <a:avLst/>
          </a:prstGeom>
          <a:noFill/>
          <a:ln/>
        </p:spPr>
        <p:txBody>
          <a:bodyPr wrap="square" lIns="0" tIns="0" rIns="0" bIns="0" rtlCol="0" anchor="t"/>
          <a:lstStyle/>
          <a:p>
            <a:pPr algn="l" indent="0" marL="0">
              <a:lnSpc>
                <a:spcPts val="1300"/>
              </a:lnSpc>
              <a:buNone/>
            </a:pPr>
            <a:r>
              <a:rPr lang="en-US" sz="1000" dirty="0">
                <a:solidFill>
                  <a:srgbClr val="52525B"/>
                </a:solidFill>
                <a:latin typeface="Segoe UI" pitchFamily="34" charset="0"/>
                <a:ea typeface="Segoe UI" pitchFamily="34" charset="-122"/>
                <a:cs typeface="Segoe UI" pitchFamily="34" charset="-120"/>
              </a:rPr>
              <a:t>Incident Response Assistant</a:t>
            </a:r>
            <a:endParaRPr lang="en-US" sz="1000" dirty="0"/>
          </a:p>
        </p:txBody>
      </p:sp>
      <p:sp>
        <p:nvSpPr>
          <p:cNvPr id="4" name="Text 2"/>
          <p:cNvSpPr/>
          <p:nvPr/>
        </p:nvSpPr>
        <p:spPr>
          <a:xfrm>
            <a:off x="10725912" y="6400800"/>
            <a:ext cx="731520" cy="228600"/>
          </a:xfrm>
          <a:prstGeom prst="rect">
            <a:avLst/>
          </a:prstGeom>
          <a:noFill/>
          <a:ln/>
        </p:spPr>
        <p:txBody>
          <a:bodyPr wrap="square" lIns="0" tIns="0" rIns="0" bIns="0" rtlCol="0" anchor="t"/>
          <a:lstStyle/>
          <a:p>
            <a:pPr algn="r" indent="0" marL="0">
              <a:lnSpc>
                <a:spcPts val="1300"/>
              </a:lnSpc>
              <a:buNone/>
            </a:pPr>
            <a:r>
              <a:rPr lang="en-US" sz="1000" dirty="0">
                <a:solidFill>
                  <a:srgbClr val="52525B"/>
                </a:solidFill>
                <a:latin typeface="Segoe UI" pitchFamily="34" charset="0"/>
                <a:ea typeface="Segoe UI" pitchFamily="34" charset="-122"/>
                <a:cs typeface="Segoe UI" pitchFamily="34" charset="-120"/>
              </a:rPr>
              <a:t>6</a:t>
            </a:r>
            <a:endParaRPr lang="en-US" sz="1000" dirty="0"/>
          </a:p>
        </p:txBody>
      </p:sp>
      <p:sp>
        <p:nvSpPr>
          <p:cNvPr id="6" name="Shape 3"/>
          <p:cNvSpPr/>
          <p:nvPr/>
        </p:nvSpPr>
        <p:spPr>
          <a:xfrm>
            <a:off x="731520" y="1508760"/>
            <a:ext cx="5394960" cy="4572000"/>
          </a:xfrm>
          <a:prstGeom prst="roundRect">
            <a:avLst>
              <a:gd name="adj" fmla="val 1600"/>
            </a:avLst>
          </a:prstGeom>
          <a:solidFill>
            <a:srgbClr val="E6F2ED"/>
          </a:solidFill>
          <a:ln/>
        </p:spPr>
      </p:sp>
      <p:sp>
        <p:nvSpPr>
          <p:cNvPr id="7" name="Text 4"/>
          <p:cNvSpPr/>
          <p:nvPr/>
        </p:nvSpPr>
        <p:spPr>
          <a:xfrm>
            <a:off x="1051560" y="1783080"/>
            <a:ext cx="2743200" cy="365760"/>
          </a:xfrm>
          <a:prstGeom prst="rect">
            <a:avLst/>
          </a:prstGeom>
          <a:noFill/>
          <a:ln/>
        </p:spPr>
        <p:txBody>
          <a:bodyPr wrap="square" lIns="0" tIns="0" rIns="0" bIns="0" rtlCol="0" anchor="t"/>
          <a:lstStyle/>
          <a:p>
            <a:pPr algn="l" indent="0" marL="0">
              <a:lnSpc>
                <a:spcPts val="2300"/>
              </a:lnSpc>
              <a:buNone/>
            </a:pPr>
            <a:r>
              <a:rPr lang="en-US" sz="1800" dirty="0">
                <a:solidFill>
                  <a:srgbClr val="047857"/>
                </a:solidFill>
                <a:latin typeface="Bahnschrift SemiBold" pitchFamily="34" charset="0"/>
                <a:ea typeface="Bahnschrift SemiBold" pitchFamily="34" charset="-122"/>
                <a:cs typeface="Bahnschrift SemiBold" pitchFamily="34" charset="-120"/>
              </a:rPr>
              <a:t>Detect</a:t>
            </a:r>
            <a:endParaRPr lang="en-US" sz="1800" dirty="0"/>
          </a:p>
        </p:txBody>
      </p:sp>
      <p:sp>
        <p:nvSpPr>
          <p:cNvPr id="8" name="Text 5"/>
          <p:cNvSpPr/>
          <p:nvPr/>
        </p:nvSpPr>
        <p:spPr>
          <a:xfrm>
            <a:off x="1051560" y="2194560"/>
            <a:ext cx="4114800" cy="1097280"/>
          </a:xfrm>
          <a:prstGeom prst="rect">
            <a:avLst/>
          </a:prstGeom>
          <a:noFill/>
          <a:ln/>
        </p:spPr>
        <p:txBody>
          <a:bodyPr wrap="square" lIns="0" tIns="0" rIns="0" bIns="0" rtlCol="0" anchor="t"/>
          <a:lstStyle/>
          <a:p>
            <a:pPr algn="l" indent="0" marL="0">
              <a:lnSpc>
                <a:spcPts val="6600"/>
              </a:lnSpc>
              <a:buNone/>
            </a:pPr>
            <a:r>
              <a:rPr lang="en-US" sz="6600" spc="-150" kern="0" dirty="0">
                <a:solidFill>
                  <a:srgbClr val="18181B"/>
                </a:solidFill>
                <a:latin typeface="Bahnschrift SemiBold" pitchFamily="34" charset="0"/>
                <a:ea typeface="Bahnschrift SemiBold" pitchFamily="34" charset="-122"/>
                <a:cs typeface="Bahnschrift SemiBold" pitchFamily="34" charset="-120"/>
              </a:rPr>
              <a:t>99.0%</a:t>
            </a:r>
            <a:endParaRPr lang="en-US" sz="6600" dirty="0"/>
          </a:p>
        </p:txBody>
      </p:sp>
      <p:sp>
        <p:nvSpPr>
          <p:cNvPr id="9" name="Text 6"/>
          <p:cNvSpPr/>
          <p:nvPr/>
        </p:nvSpPr>
        <p:spPr>
          <a:xfrm>
            <a:off x="1051560" y="3246120"/>
            <a:ext cx="4572000" cy="365760"/>
          </a:xfrm>
          <a:prstGeom prst="rect">
            <a:avLst/>
          </a:prstGeom>
          <a:noFill/>
          <a:ln/>
        </p:spPr>
        <p:txBody>
          <a:bodyPr wrap="square" lIns="0" tIns="0" rIns="0" bIns="0" rtlCol="0" anchor="t"/>
          <a:lstStyle/>
          <a:p>
            <a:pPr algn="l" indent="0" marL="0">
              <a:lnSpc>
                <a:spcPts val="1800"/>
              </a:lnSpc>
              <a:buNone/>
            </a:pPr>
            <a:r>
              <a:rPr lang="en-US" sz="1400" dirty="0">
                <a:solidFill>
                  <a:srgbClr val="52525B"/>
                </a:solidFill>
                <a:latin typeface="Segoe UI" pitchFamily="34" charset="0"/>
                <a:ea typeface="Segoe UI" pitchFamily="34" charset="-122"/>
                <a:cs typeface="Segoe UI" pitchFamily="34" charset="-120"/>
              </a:rPr>
              <a:t>accuracy on 31,675 unseen flows</a:t>
            </a:r>
            <a:endParaRPr lang="en-US" sz="1400" dirty="0"/>
          </a:p>
        </p:txBody>
      </p:sp>
      <p:sp>
        <p:nvSpPr>
          <p:cNvPr id="10" name="Text 7"/>
          <p:cNvSpPr/>
          <p:nvPr/>
        </p:nvSpPr>
        <p:spPr>
          <a:xfrm>
            <a:off x="1051560" y="3931920"/>
            <a:ext cx="4846320" cy="365760"/>
          </a:xfrm>
          <a:prstGeom prst="rect">
            <a:avLst/>
          </a:prstGeom>
          <a:noFill/>
          <a:ln/>
        </p:spPr>
        <p:txBody>
          <a:bodyPr wrap="square" lIns="0" tIns="0" rIns="0" bIns="0" rtlCol="0" anchor="t"/>
          <a:lstStyle/>
          <a:p>
            <a:pPr algn="l" indent="0" marL="0">
              <a:lnSpc>
                <a:spcPts val="1800"/>
              </a:lnSpc>
              <a:buNone/>
            </a:pPr>
            <a:r>
              <a:rPr lang="en-US" sz="1400" b="1" dirty="0">
                <a:solidFill>
                  <a:srgbClr val="18181B"/>
                </a:solidFill>
                <a:latin typeface="Bahnschrift SemiBold" pitchFamily="34" charset="0"/>
                <a:ea typeface="Bahnschrift SemiBold" pitchFamily="34" charset="-122"/>
                <a:cs typeface="Bahnschrift SemiBold" pitchFamily="34" charset="-120"/>
              </a:rPr>
              <a:t>Random Forest</a:t>
            </a:r>
            <a:pPr algn="l" indent="0" marL="0">
              <a:lnSpc>
                <a:spcPts val="1800"/>
              </a:lnSpc>
              <a:buNone/>
            </a:pPr>
            <a:r>
              <a:rPr lang="en-US" sz="1400" dirty="0">
                <a:solidFill>
                  <a:srgbClr val="52525B"/>
                </a:solidFill>
                <a:latin typeface="Segoe UI" pitchFamily="34" charset="0"/>
                <a:ea typeface="Segoe UI" pitchFamily="34" charset="-122"/>
                <a:cs typeface="Segoe UI" pitchFamily="34" charset="-120"/>
              </a:rPr>
              <a:t>  classifies nine attack families</a:t>
            </a:r>
            <a:endParaRPr lang="en-US" sz="1400" dirty="0"/>
          </a:p>
        </p:txBody>
      </p:sp>
      <p:sp>
        <p:nvSpPr>
          <p:cNvPr id="11" name="Text 8"/>
          <p:cNvSpPr/>
          <p:nvPr/>
        </p:nvSpPr>
        <p:spPr>
          <a:xfrm>
            <a:off x="1051560" y="4389120"/>
            <a:ext cx="4846320" cy="365760"/>
          </a:xfrm>
          <a:prstGeom prst="rect">
            <a:avLst/>
          </a:prstGeom>
          <a:noFill/>
          <a:ln/>
        </p:spPr>
        <p:txBody>
          <a:bodyPr wrap="square" lIns="0" tIns="0" rIns="0" bIns="0" rtlCol="0" anchor="t"/>
          <a:lstStyle/>
          <a:p>
            <a:pPr algn="l" indent="0" marL="0">
              <a:lnSpc>
                <a:spcPts val="1800"/>
              </a:lnSpc>
              <a:buNone/>
            </a:pPr>
            <a:r>
              <a:rPr lang="en-US" sz="1400" b="1" dirty="0">
                <a:solidFill>
                  <a:srgbClr val="18181B"/>
                </a:solidFill>
                <a:latin typeface="Bahnschrift SemiBold" pitchFamily="34" charset="0"/>
                <a:ea typeface="Bahnschrift SemiBold" pitchFamily="34" charset="-122"/>
                <a:cs typeface="Bahnschrift SemiBold" pitchFamily="34" charset="-120"/>
              </a:rPr>
              <a:t>Gradient Boosting</a:t>
            </a:r>
            <a:pPr algn="l" indent="0" marL="0">
              <a:lnSpc>
                <a:spcPts val="1800"/>
              </a:lnSpc>
              <a:buNone/>
            </a:pPr>
            <a:r>
              <a:rPr lang="en-US" sz="1400" dirty="0">
                <a:solidFill>
                  <a:srgbClr val="52525B"/>
                </a:solidFill>
                <a:latin typeface="Segoe UI" pitchFamily="34" charset="0"/>
                <a:ea typeface="Segoe UI" pitchFamily="34" charset="-122"/>
                <a:cs typeface="Segoe UI" pitchFamily="34" charset="-120"/>
              </a:rPr>
              <a:t>  calibrates intrusion probability</a:t>
            </a:r>
            <a:endParaRPr lang="en-US" sz="1400" dirty="0"/>
          </a:p>
        </p:txBody>
      </p:sp>
      <p:sp>
        <p:nvSpPr>
          <p:cNvPr id="12" name="Text 9"/>
          <p:cNvSpPr/>
          <p:nvPr/>
        </p:nvSpPr>
        <p:spPr>
          <a:xfrm>
            <a:off x="1051560" y="4846320"/>
            <a:ext cx="4846320" cy="365760"/>
          </a:xfrm>
          <a:prstGeom prst="rect">
            <a:avLst/>
          </a:prstGeom>
          <a:noFill/>
          <a:ln/>
        </p:spPr>
        <p:txBody>
          <a:bodyPr wrap="square" lIns="0" tIns="0" rIns="0" bIns="0" rtlCol="0" anchor="t"/>
          <a:lstStyle/>
          <a:p>
            <a:pPr algn="l" indent="0" marL="0">
              <a:lnSpc>
                <a:spcPts val="1800"/>
              </a:lnSpc>
              <a:buNone/>
            </a:pPr>
            <a:r>
              <a:rPr lang="en-US" sz="1400" b="1" dirty="0">
                <a:solidFill>
                  <a:srgbClr val="18181B"/>
                </a:solidFill>
                <a:latin typeface="Bahnschrift SemiBold" pitchFamily="34" charset="0"/>
                <a:ea typeface="Bahnschrift SemiBold" pitchFamily="34" charset="-122"/>
                <a:cs typeface="Bahnschrift SemiBold" pitchFamily="34" charset="-120"/>
              </a:rPr>
              <a:t>Isolation Forest</a:t>
            </a:r>
            <a:pPr algn="l" indent="0" marL="0">
              <a:lnSpc>
                <a:spcPts val="1800"/>
              </a:lnSpc>
              <a:buNone/>
            </a:pPr>
            <a:r>
              <a:rPr lang="en-US" sz="1400" dirty="0">
                <a:solidFill>
                  <a:srgbClr val="52525B"/>
                </a:solidFill>
                <a:latin typeface="Segoe UI" pitchFamily="34" charset="0"/>
                <a:ea typeface="Segoe UI" pitchFamily="34" charset="-122"/>
                <a:cs typeface="Segoe UI" pitchFamily="34" charset="-120"/>
              </a:rPr>
              <a:t>  flags zero-day anomalies</a:t>
            </a:r>
            <a:endParaRPr lang="en-US" sz="1400" dirty="0"/>
          </a:p>
        </p:txBody>
      </p:sp>
      <p:sp>
        <p:nvSpPr>
          <p:cNvPr id="13" name="Text 10"/>
          <p:cNvSpPr/>
          <p:nvPr/>
        </p:nvSpPr>
        <p:spPr>
          <a:xfrm>
            <a:off x="1051560" y="5303520"/>
            <a:ext cx="4846320" cy="365760"/>
          </a:xfrm>
          <a:prstGeom prst="rect">
            <a:avLst/>
          </a:prstGeom>
          <a:noFill/>
          <a:ln/>
        </p:spPr>
        <p:txBody>
          <a:bodyPr wrap="square" lIns="0" tIns="0" rIns="0" bIns="0" rtlCol="0" anchor="t"/>
          <a:lstStyle/>
          <a:p>
            <a:pPr algn="l" indent="0" marL="0">
              <a:lnSpc>
                <a:spcPts val="1800"/>
              </a:lnSpc>
              <a:buNone/>
            </a:pPr>
            <a:r>
              <a:rPr lang="en-US" sz="1400" b="1" dirty="0">
                <a:solidFill>
                  <a:srgbClr val="18181B"/>
                </a:solidFill>
                <a:latin typeface="Bahnschrift SemiBold" pitchFamily="34" charset="0"/>
                <a:ea typeface="Bahnschrift SemiBold" pitchFamily="34" charset="-122"/>
                <a:cs typeface="Bahnschrift SemiBold" pitchFamily="34" charset="-120"/>
              </a:rPr>
              <a:t>SHAP</a:t>
            </a:r>
            <a:pPr algn="l" indent="0" marL="0">
              <a:lnSpc>
                <a:spcPts val="1800"/>
              </a:lnSpc>
              <a:buNone/>
            </a:pPr>
            <a:r>
              <a:rPr lang="en-US" sz="1400" dirty="0">
                <a:solidFill>
                  <a:srgbClr val="52525B"/>
                </a:solidFill>
                <a:latin typeface="Segoe UI" pitchFamily="34" charset="0"/>
                <a:ea typeface="Segoe UI" pitchFamily="34" charset="-122"/>
                <a:cs typeface="Segoe UI" pitchFamily="34" charset="-120"/>
              </a:rPr>
              <a:t>  shows the features behind each call</a:t>
            </a:r>
            <a:endParaRPr lang="en-US" sz="1400" dirty="0"/>
          </a:p>
        </p:txBody>
      </p:sp>
      <p:sp>
        <p:nvSpPr>
          <p:cNvPr id="14" name="Shape 11"/>
          <p:cNvSpPr/>
          <p:nvPr/>
        </p:nvSpPr>
        <p:spPr>
          <a:xfrm>
            <a:off x="6355080" y="1508760"/>
            <a:ext cx="5102352" cy="2194560"/>
          </a:xfrm>
          <a:prstGeom prst="roundRect">
            <a:avLst>
              <a:gd name="adj" fmla="val 3333"/>
            </a:avLst>
          </a:prstGeom>
          <a:solidFill>
            <a:srgbClr val="FFFFFF"/>
          </a:solidFill>
          <a:ln w="9525">
            <a:solidFill>
              <a:srgbClr val="D4D4D8"/>
            </a:solidFill>
            <a:prstDash val="solid"/>
          </a:ln>
        </p:spPr>
      </p:sp>
      <p:sp>
        <p:nvSpPr>
          <p:cNvPr id="15" name="Text 12"/>
          <p:cNvSpPr/>
          <p:nvPr/>
        </p:nvSpPr>
        <p:spPr>
          <a:xfrm>
            <a:off x="6675120" y="1737360"/>
            <a:ext cx="2743200" cy="365760"/>
          </a:xfrm>
          <a:prstGeom prst="rect">
            <a:avLst/>
          </a:prstGeom>
          <a:noFill/>
          <a:ln/>
        </p:spPr>
        <p:txBody>
          <a:bodyPr wrap="square" lIns="0" tIns="0" rIns="0" bIns="0" rtlCol="0" anchor="t"/>
          <a:lstStyle/>
          <a:p>
            <a:pPr algn="l" indent="0" marL="0">
              <a:lnSpc>
                <a:spcPts val="2300"/>
              </a:lnSpc>
              <a:buNone/>
            </a:pPr>
            <a:r>
              <a:rPr lang="en-US" sz="1800" dirty="0">
                <a:solidFill>
                  <a:srgbClr val="047857"/>
                </a:solidFill>
                <a:latin typeface="Bahnschrift SemiBold" pitchFamily="34" charset="0"/>
                <a:ea typeface="Bahnschrift SemiBold" pitchFamily="34" charset="-122"/>
                <a:cs typeface="Bahnschrift SemiBold" pitchFamily="34" charset="-120"/>
              </a:rPr>
              <a:t>Retrieve</a:t>
            </a:r>
            <a:endParaRPr lang="en-US" sz="1800" dirty="0"/>
          </a:p>
        </p:txBody>
      </p:sp>
      <p:sp>
        <p:nvSpPr>
          <p:cNvPr id="16" name="Text 13"/>
          <p:cNvSpPr/>
          <p:nvPr/>
        </p:nvSpPr>
        <p:spPr>
          <a:xfrm>
            <a:off x="6675120" y="2148840"/>
            <a:ext cx="2560320" cy="822960"/>
          </a:xfrm>
          <a:prstGeom prst="rect">
            <a:avLst/>
          </a:prstGeom>
          <a:noFill/>
          <a:ln/>
        </p:spPr>
        <p:txBody>
          <a:bodyPr wrap="square" lIns="0" tIns="0" rIns="0" bIns="0" rtlCol="0" anchor="t"/>
          <a:lstStyle/>
          <a:p>
            <a:pPr algn="l" indent="0" marL="0">
              <a:lnSpc>
                <a:spcPts val="4400"/>
              </a:lnSpc>
              <a:buNone/>
            </a:pPr>
            <a:r>
              <a:rPr lang="en-US" sz="4400" spc="-100" kern="0" dirty="0">
                <a:solidFill>
                  <a:srgbClr val="18181B"/>
                </a:solidFill>
                <a:latin typeface="Bahnschrift SemiBold" pitchFamily="34" charset="0"/>
                <a:ea typeface="Bahnschrift SemiBold" pitchFamily="34" charset="-122"/>
                <a:cs typeface="Bahnschrift SemiBold" pitchFamily="34" charset="-120"/>
              </a:rPr>
              <a:t>98.4%</a:t>
            </a:r>
            <a:endParaRPr lang="en-US" sz="4400" dirty="0"/>
          </a:p>
        </p:txBody>
      </p:sp>
      <p:sp>
        <p:nvSpPr>
          <p:cNvPr id="17" name="Text 14"/>
          <p:cNvSpPr/>
          <p:nvPr/>
        </p:nvSpPr>
        <p:spPr>
          <a:xfrm>
            <a:off x="6675120" y="2788920"/>
            <a:ext cx="2377440" cy="274320"/>
          </a:xfrm>
          <a:prstGeom prst="rect">
            <a:avLst/>
          </a:prstGeom>
          <a:noFill/>
          <a:ln/>
        </p:spPr>
        <p:txBody>
          <a:bodyPr wrap="square" lIns="0" tIns="0" rIns="0" bIns="0" rtlCol="0" anchor="t"/>
          <a:lstStyle/>
          <a:p>
            <a:pPr algn="l" indent="0" marL="0">
              <a:lnSpc>
                <a:spcPts val="1700"/>
              </a:lnSpc>
              <a:buNone/>
            </a:pPr>
            <a:r>
              <a:rPr lang="en-US" sz="1300" dirty="0">
                <a:solidFill>
                  <a:srgbClr val="52525B"/>
                </a:solidFill>
                <a:latin typeface="Segoe UI" pitchFamily="34" charset="0"/>
                <a:ea typeface="Segoe UI" pitchFamily="34" charset="-122"/>
                <a:cs typeface="Segoe UI" pitchFamily="34" charset="-120"/>
              </a:rPr>
              <a:t>Precision@1</a:t>
            </a:r>
            <a:endParaRPr lang="en-US" sz="1300" dirty="0"/>
          </a:p>
        </p:txBody>
      </p:sp>
      <p:sp>
        <p:nvSpPr>
          <p:cNvPr id="18" name="Text 15"/>
          <p:cNvSpPr/>
          <p:nvPr/>
        </p:nvSpPr>
        <p:spPr>
          <a:xfrm>
            <a:off x="8778240" y="2194560"/>
            <a:ext cx="2423160" cy="1371600"/>
          </a:xfrm>
          <a:prstGeom prst="rect">
            <a:avLst/>
          </a:prstGeom>
          <a:noFill/>
          <a:ln/>
        </p:spPr>
        <p:txBody>
          <a:bodyPr wrap="square" lIns="0" tIns="0" rIns="0" bIns="0" rtlCol="0" anchor="t"/>
          <a:lstStyle/>
          <a:p>
            <a:pPr algn="l" indent="0" marL="0">
              <a:lnSpc>
                <a:spcPts val="1900"/>
              </a:lnSpc>
              <a:buNone/>
            </a:pPr>
            <a:r>
              <a:rPr lang="en-US" sz="1300" dirty="0">
                <a:solidFill>
                  <a:srgbClr val="52525B"/>
                </a:solidFill>
                <a:latin typeface="Segoe UI" pitchFamily="34" charset="0"/>
                <a:ea typeface="Segoe UI" pitchFamily="34" charset="-122"/>
                <a:cs typeface="Segoe UI" pitchFamily="34" charset="-120"/>
              </a:rPr>
              <a:t>Dense vectors in Qdrant fused with BM25 keyword match across 4,236 confirmed incidents.</a:t>
            </a:r>
            <a:endParaRPr lang="en-US" sz="1300" dirty="0"/>
          </a:p>
        </p:txBody>
      </p:sp>
      <p:sp>
        <p:nvSpPr>
          <p:cNvPr id="19" name="Shape 16"/>
          <p:cNvSpPr/>
          <p:nvPr/>
        </p:nvSpPr>
        <p:spPr>
          <a:xfrm>
            <a:off x="6355080" y="3886200"/>
            <a:ext cx="5102352" cy="2194560"/>
          </a:xfrm>
          <a:prstGeom prst="roundRect">
            <a:avLst>
              <a:gd name="adj" fmla="val 3333"/>
            </a:avLst>
          </a:prstGeom>
          <a:solidFill>
            <a:srgbClr val="18181B"/>
          </a:solidFill>
          <a:ln/>
        </p:spPr>
      </p:sp>
      <p:sp>
        <p:nvSpPr>
          <p:cNvPr id="20" name="Text 17"/>
          <p:cNvSpPr/>
          <p:nvPr/>
        </p:nvSpPr>
        <p:spPr>
          <a:xfrm>
            <a:off x="6675120" y="4114800"/>
            <a:ext cx="2743200" cy="365760"/>
          </a:xfrm>
          <a:prstGeom prst="rect">
            <a:avLst/>
          </a:prstGeom>
          <a:noFill/>
          <a:ln/>
        </p:spPr>
        <p:txBody>
          <a:bodyPr wrap="square" lIns="0" tIns="0" rIns="0" bIns="0" rtlCol="0" anchor="t"/>
          <a:lstStyle/>
          <a:p>
            <a:pPr algn="l" indent="0" marL="0">
              <a:lnSpc>
                <a:spcPts val="2300"/>
              </a:lnSpc>
              <a:buNone/>
            </a:pPr>
            <a:r>
              <a:rPr lang="en-US" sz="1800" dirty="0">
                <a:solidFill>
                  <a:srgbClr val="A7F3D0"/>
                </a:solidFill>
                <a:latin typeface="Bahnschrift SemiBold" pitchFamily="34" charset="0"/>
                <a:ea typeface="Bahnschrift SemiBold" pitchFamily="34" charset="-122"/>
                <a:cs typeface="Bahnschrift SemiBold" pitchFamily="34" charset="-120"/>
              </a:rPr>
              <a:t>Respond</a:t>
            </a:r>
            <a:endParaRPr lang="en-US" sz="1800" dirty="0"/>
          </a:p>
        </p:txBody>
      </p:sp>
      <p:sp>
        <p:nvSpPr>
          <p:cNvPr id="21" name="Text 18"/>
          <p:cNvSpPr/>
          <p:nvPr/>
        </p:nvSpPr>
        <p:spPr>
          <a:xfrm>
            <a:off x="6675120" y="4617720"/>
            <a:ext cx="4480560" cy="731520"/>
          </a:xfrm>
          <a:prstGeom prst="rect">
            <a:avLst/>
          </a:prstGeom>
          <a:noFill/>
          <a:ln/>
        </p:spPr>
        <p:txBody>
          <a:bodyPr wrap="square" lIns="0" tIns="0" rIns="0" bIns="0" rtlCol="0" anchor="t"/>
          <a:lstStyle/>
          <a:p>
            <a:pPr algn="l" indent="0" marL="0">
              <a:lnSpc>
                <a:spcPts val="2200"/>
              </a:lnSpc>
              <a:buNone/>
            </a:pPr>
            <a:r>
              <a:rPr lang="en-US" sz="1600" dirty="0">
                <a:solidFill>
                  <a:srgbClr val="FFFFFF"/>
                </a:solidFill>
                <a:latin typeface="Bahnschrift SemiBold" pitchFamily="34" charset="0"/>
                <a:ea typeface="Bahnschrift SemiBold" pitchFamily="34" charset="-122"/>
                <a:cs typeface="Bahnschrift SemiBold" pitchFamily="34" charset="-120"/>
              </a:rPr>
              <a:t>AICredits  →  NVIDIA NIM  →  Ollama  →  offline playbooks</a:t>
            </a:r>
            <a:endParaRPr lang="en-US" sz="1600" dirty="0"/>
          </a:p>
        </p:txBody>
      </p:sp>
      <p:sp>
        <p:nvSpPr>
          <p:cNvPr id="22" name="Text 19"/>
          <p:cNvSpPr/>
          <p:nvPr/>
        </p:nvSpPr>
        <p:spPr>
          <a:xfrm>
            <a:off x="6675120" y="5349240"/>
            <a:ext cx="4480560" cy="548640"/>
          </a:xfrm>
          <a:prstGeom prst="rect">
            <a:avLst/>
          </a:prstGeom>
          <a:noFill/>
          <a:ln/>
        </p:spPr>
        <p:txBody>
          <a:bodyPr wrap="square" lIns="0" tIns="0" rIns="0" bIns="0" rtlCol="0" anchor="t"/>
          <a:lstStyle/>
          <a:p>
            <a:pPr algn="l" indent="0" marL="0">
              <a:lnSpc>
                <a:spcPts val="1800"/>
              </a:lnSpc>
              <a:buNone/>
            </a:pPr>
            <a:r>
              <a:rPr lang="en-US" sz="1300" dirty="0">
                <a:solidFill>
                  <a:srgbClr val="D4D4D8"/>
                </a:solidFill>
                <a:latin typeface="Segoe UI" pitchFamily="34" charset="0"/>
                <a:ea typeface="Segoe UI" pitchFamily="34" charset="-122"/>
                <a:cs typeface="Segoe UI" pitchFamily="34" charset="-120"/>
              </a:rPr>
              <a:t>Automatic fallback, so an outage never blocks the analyst.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566928"/>
            <a:ext cx="10698480" cy="731520"/>
          </a:xfrm>
          <a:prstGeom prst="rect">
            <a:avLst/>
          </a:prstGeom>
          <a:noFill/>
          <a:ln/>
        </p:spPr>
        <p:txBody>
          <a:bodyPr wrap="square" lIns="0" tIns="0" rIns="0" bIns="0" rtlCol="0" anchor="t"/>
          <a:lstStyle/>
          <a:p>
            <a:pPr algn="l" indent="0" marL="0">
              <a:lnSpc>
                <a:spcPts val="3900"/>
              </a:lnSpc>
              <a:buNone/>
            </a:pPr>
            <a:r>
              <a:rPr lang="en-US" sz="3400" spc="-50" kern="0" dirty="0">
                <a:solidFill>
                  <a:srgbClr val="18181B"/>
                </a:solidFill>
                <a:latin typeface="Bahnschrift SemiBold" pitchFamily="34" charset="0"/>
                <a:ea typeface="Bahnschrift SemiBold" pitchFamily="34" charset="-122"/>
                <a:cs typeface="Bahnschrift SemiBold" pitchFamily="34" charset="-120"/>
              </a:rPr>
              <a:t>A risk score you can audit</a:t>
            </a:r>
            <a:endParaRPr lang="en-US" sz="3400" dirty="0"/>
          </a:p>
        </p:txBody>
      </p:sp>
      <p:sp>
        <p:nvSpPr>
          <p:cNvPr id="3" name="Text 1"/>
          <p:cNvSpPr/>
          <p:nvPr/>
        </p:nvSpPr>
        <p:spPr>
          <a:xfrm>
            <a:off x="731520" y="6400800"/>
            <a:ext cx="3657600" cy="228600"/>
          </a:xfrm>
          <a:prstGeom prst="rect">
            <a:avLst/>
          </a:prstGeom>
          <a:noFill/>
          <a:ln/>
        </p:spPr>
        <p:txBody>
          <a:bodyPr wrap="square" lIns="0" tIns="0" rIns="0" bIns="0" rtlCol="0" anchor="t"/>
          <a:lstStyle/>
          <a:p>
            <a:pPr algn="l" indent="0" marL="0">
              <a:lnSpc>
                <a:spcPts val="1300"/>
              </a:lnSpc>
              <a:buNone/>
            </a:pPr>
            <a:r>
              <a:rPr lang="en-US" sz="1000" dirty="0">
                <a:solidFill>
                  <a:srgbClr val="52525B"/>
                </a:solidFill>
                <a:latin typeface="Segoe UI" pitchFamily="34" charset="0"/>
                <a:ea typeface="Segoe UI" pitchFamily="34" charset="-122"/>
                <a:cs typeface="Segoe UI" pitchFamily="34" charset="-120"/>
              </a:rPr>
              <a:t>Incident Response Assistant</a:t>
            </a:r>
            <a:endParaRPr lang="en-US" sz="1000" dirty="0"/>
          </a:p>
        </p:txBody>
      </p:sp>
      <p:sp>
        <p:nvSpPr>
          <p:cNvPr id="4" name="Text 2"/>
          <p:cNvSpPr/>
          <p:nvPr/>
        </p:nvSpPr>
        <p:spPr>
          <a:xfrm>
            <a:off x="10725912" y="6400800"/>
            <a:ext cx="731520" cy="228600"/>
          </a:xfrm>
          <a:prstGeom prst="rect">
            <a:avLst/>
          </a:prstGeom>
          <a:noFill/>
          <a:ln/>
        </p:spPr>
        <p:txBody>
          <a:bodyPr wrap="square" lIns="0" tIns="0" rIns="0" bIns="0" rtlCol="0" anchor="t"/>
          <a:lstStyle/>
          <a:p>
            <a:pPr algn="r" indent="0" marL="0">
              <a:lnSpc>
                <a:spcPts val="1300"/>
              </a:lnSpc>
              <a:buNone/>
            </a:pPr>
            <a:r>
              <a:rPr lang="en-US" sz="1000" dirty="0">
                <a:solidFill>
                  <a:srgbClr val="52525B"/>
                </a:solidFill>
                <a:latin typeface="Segoe UI" pitchFamily="34" charset="0"/>
                <a:ea typeface="Segoe UI" pitchFamily="34" charset="-122"/>
                <a:cs typeface="Segoe UI" pitchFamily="34" charset="-120"/>
              </a:rPr>
              <a:t>7</a:t>
            </a:r>
            <a:endParaRPr lang="en-US" sz="1000" dirty="0"/>
          </a:p>
        </p:txBody>
      </p:sp>
      <p:sp>
        <p:nvSpPr>
          <p:cNvPr id="6" name="Shape 3"/>
          <p:cNvSpPr/>
          <p:nvPr/>
        </p:nvSpPr>
        <p:spPr>
          <a:xfrm>
            <a:off x="731520" y="1691640"/>
            <a:ext cx="4290365" cy="960120"/>
          </a:xfrm>
          <a:prstGeom prst="rect">
            <a:avLst/>
          </a:prstGeom>
          <a:solidFill>
            <a:srgbClr val="065F46"/>
          </a:solidFill>
          <a:ln w="25400">
            <a:solidFill>
              <a:srgbClr val="FAFAFA"/>
            </a:solidFill>
            <a:prstDash val="solid"/>
          </a:ln>
        </p:spPr>
      </p:sp>
      <p:sp>
        <p:nvSpPr>
          <p:cNvPr id="7" name="Text 4"/>
          <p:cNvSpPr/>
          <p:nvPr/>
        </p:nvSpPr>
        <p:spPr>
          <a:xfrm>
            <a:off x="914400" y="1847088"/>
            <a:ext cx="4016045" cy="640080"/>
          </a:xfrm>
          <a:prstGeom prst="rect">
            <a:avLst/>
          </a:prstGeom>
          <a:noFill/>
          <a:ln/>
        </p:spPr>
        <p:txBody>
          <a:bodyPr wrap="square" lIns="0" tIns="0" rIns="0" bIns="0" rtlCol="0" anchor="t"/>
          <a:lstStyle/>
          <a:p>
            <a:pPr algn="l" indent="0" marL="0">
              <a:lnSpc>
                <a:spcPts val="3500"/>
              </a:lnSpc>
              <a:buNone/>
            </a:pPr>
            <a:r>
              <a:rPr lang="en-US" sz="3200" spc="-50" kern="0" dirty="0">
                <a:solidFill>
                  <a:srgbClr val="FFFFFF"/>
                </a:solidFill>
                <a:latin typeface="Bahnschrift SemiBold" pitchFamily="34" charset="0"/>
                <a:ea typeface="Bahnschrift SemiBold" pitchFamily="34" charset="-122"/>
                <a:cs typeface="Bahnschrift SemiBold" pitchFamily="34" charset="-120"/>
              </a:rPr>
              <a:t>40%</a:t>
            </a:r>
            <a:endParaRPr lang="en-US" sz="3200" dirty="0"/>
          </a:p>
        </p:txBody>
      </p:sp>
      <p:sp>
        <p:nvSpPr>
          <p:cNvPr id="8" name="Text 5"/>
          <p:cNvSpPr/>
          <p:nvPr/>
        </p:nvSpPr>
        <p:spPr>
          <a:xfrm>
            <a:off x="777240" y="2834640"/>
            <a:ext cx="4107485" cy="365760"/>
          </a:xfrm>
          <a:prstGeom prst="rect">
            <a:avLst/>
          </a:prstGeom>
          <a:noFill/>
          <a:ln/>
        </p:spPr>
        <p:txBody>
          <a:bodyPr wrap="square" lIns="0" tIns="0" rIns="0" bIns="0" rtlCol="0" anchor="t"/>
          <a:lstStyle/>
          <a:p>
            <a:pPr algn="l" indent="0" marL="0">
              <a:lnSpc>
                <a:spcPts val="2000"/>
              </a:lnSpc>
              <a:buNone/>
            </a:pPr>
            <a:r>
              <a:rPr lang="en-US" sz="1500" dirty="0">
                <a:solidFill>
                  <a:srgbClr val="18181B"/>
                </a:solidFill>
                <a:latin typeface="Bahnschrift SemiBold" pitchFamily="34" charset="0"/>
                <a:ea typeface="Bahnschrift SemiBold" pitchFamily="34" charset="-122"/>
                <a:cs typeface="Bahnschrift SemiBold" pitchFamily="34" charset="-120"/>
              </a:rPr>
              <a:t>Severity × confidence</a:t>
            </a:r>
            <a:endParaRPr lang="en-US" sz="1500" dirty="0"/>
          </a:p>
        </p:txBody>
      </p:sp>
      <p:sp>
        <p:nvSpPr>
          <p:cNvPr id="9" name="Text 6"/>
          <p:cNvSpPr/>
          <p:nvPr/>
        </p:nvSpPr>
        <p:spPr>
          <a:xfrm>
            <a:off x="777240" y="3200400"/>
            <a:ext cx="4016045" cy="640080"/>
          </a:xfrm>
          <a:prstGeom prst="rect">
            <a:avLst/>
          </a:prstGeom>
          <a:noFill/>
          <a:ln/>
        </p:spPr>
        <p:txBody>
          <a:bodyPr wrap="square" lIns="0" tIns="0" rIns="0" bIns="0" rtlCol="0" anchor="t"/>
          <a:lstStyle/>
          <a:p>
            <a:pPr algn="l" indent="0" marL="0">
              <a:lnSpc>
                <a:spcPts val="1700"/>
              </a:lnSpc>
              <a:buNone/>
            </a:pPr>
            <a:r>
              <a:rPr lang="en-US" sz="1200" dirty="0">
                <a:solidFill>
                  <a:srgbClr val="52525B"/>
                </a:solidFill>
                <a:latin typeface="Segoe UI" pitchFamily="34" charset="0"/>
                <a:ea typeface="Segoe UI" pitchFamily="34" charset="-122"/>
                <a:cs typeface="Segoe UI" pitchFamily="34" charset="-120"/>
              </a:rPr>
              <a:t>How bad the family is, and how sure we are</a:t>
            </a:r>
            <a:endParaRPr lang="en-US" sz="1200" dirty="0"/>
          </a:p>
        </p:txBody>
      </p:sp>
      <p:sp>
        <p:nvSpPr>
          <p:cNvPr id="10" name="Shape 7"/>
          <p:cNvSpPr/>
          <p:nvPr/>
        </p:nvSpPr>
        <p:spPr>
          <a:xfrm>
            <a:off x="5021885" y="1691640"/>
            <a:ext cx="2681478" cy="960120"/>
          </a:xfrm>
          <a:prstGeom prst="rect">
            <a:avLst/>
          </a:prstGeom>
          <a:solidFill>
            <a:srgbClr val="047857"/>
          </a:solidFill>
          <a:ln w="25400">
            <a:solidFill>
              <a:srgbClr val="FAFAFA"/>
            </a:solidFill>
            <a:prstDash val="solid"/>
          </a:ln>
        </p:spPr>
      </p:sp>
      <p:sp>
        <p:nvSpPr>
          <p:cNvPr id="11" name="Text 8"/>
          <p:cNvSpPr/>
          <p:nvPr/>
        </p:nvSpPr>
        <p:spPr>
          <a:xfrm>
            <a:off x="5204765" y="1847088"/>
            <a:ext cx="2407158" cy="640080"/>
          </a:xfrm>
          <a:prstGeom prst="rect">
            <a:avLst/>
          </a:prstGeom>
          <a:noFill/>
          <a:ln/>
        </p:spPr>
        <p:txBody>
          <a:bodyPr wrap="square" lIns="0" tIns="0" rIns="0" bIns="0" rtlCol="0" anchor="t"/>
          <a:lstStyle/>
          <a:p>
            <a:pPr algn="l" indent="0" marL="0">
              <a:lnSpc>
                <a:spcPts val="3500"/>
              </a:lnSpc>
              <a:buNone/>
            </a:pPr>
            <a:r>
              <a:rPr lang="en-US" sz="3200" spc="-50" kern="0" dirty="0">
                <a:solidFill>
                  <a:srgbClr val="FFFFFF"/>
                </a:solidFill>
                <a:latin typeface="Bahnschrift SemiBold" pitchFamily="34" charset="0"/>
                <a:ea typeface="Bahnschrift SemiBold" pitchFamily="34" charset="-122"/>
                <a:cs typeface="Bahnschrift SemiBold" pitchFamily="34" charset="-120"/>
              </a:rPr>
              <a:t>25%</a:t>
            </a:r>
            <a:endParaRPr lang="en-US" sz="3200" dirty="0"/>
          </a:p>
        </p:txBody>
      </p:sp>
      <p:sp>
        <p:nvSpPr>
          <p:cNvPr id="12" name="Text 9"/>
          <p:cNvSpPr/>
          <p:nvPr/>
        </p:nvSpPr>
        <p:spPr>
          <a:xfrm>
            <a:off x="5067605" y="2834640"/>
            <a:ext cx="2498598" cy="365760"/>
          </a:xfrm>
          <a:prstGeom prst="rect">
            <a:avLst/>
          </a:prstGeom>
          <a:noFill/>
          <a:ln/>
        </p:spPr>
        <p:txBody>
          <a:bodyPr wrap="square" lIns="0" tIns="0" rIns="0" bIns="0" rtlCol="0" anchor="t"/>
          <a:lstStyle/>
          <a:p>
            <a:pPr algn="l" indent="0" marL="0">
              <a:lnSpc>
                <a:spcPts val="2000"/>
              </a:lnSpc>
              <a:buNone/>
            </a:pPr>
            <a:r>
              <a:rPr lang="en-US" sz="1500" dirty="0">
                <a:solidFill>
                  <a:srgbClr val="18181B"/>
                </a:solidFill>
                <a:latin typeface="Bahnschrift SemiBold" pitchFamily="34" charset="0"/>
                <a:ea typeface="Bahnschrift SemiBold" pitchFamily="34" charset="-122"/>
                <a:cs typeface="Bahnschrift SemiBold" pitchFamily="34" charset="-120"/>
              </a:rPr>
              <a:t>Intrusion probability</a:t>
            </a:r>
            <a:endParaRPr lang="en-US" sz="1500" dirty="0"/>
          </a:p>
        </p:txBody>
      </p:sp>
      <p:sp>
        <p:nvSpPr>
          <p:cNvPr id="13" name="Text 10"/>
          <p:cNvSpPr/>
          <p:nvPr/>
        </p:nvSpPr>
        <p:spPr>
          <a:xfrm>
            <a:off x="5067605" y="3200400"/>
            <a:ext cx="2407158" cy="640080"/>
          </a:xfrm>
          <a:prstGeom prst="rect">
            <a:avLst/>
          </a:prstGeom>
          <a:noFill/>
          <a:ln/>
        </p:spPr>
        <p:txBody>
          <a:bodyPr wrap="square" lIns="0" tIns="0" rIns="0" bIns="0" rtlCol="0" anchor="t"/>
          <a:lstStyle/>
          <a:p>
            <a:pPr algn="l" indent="0" marL="0">
              <a:lnSpc>
                <a:spcPts val="1700"/>
              </a:lnSpc>
              <a:buNone/>
            </a:pPr>
            <a:r>
              <a:rPr lang="en-US" sz="1200" dirty="0">
                <a:solidFill>
                  <a:srgbClr val="52525B"/>
                </a:solidFill>
                <a:latin typeface="Segoe UI" pitchFamily="34" charset="0"/>
                <a:ea typeface="Segoe UI" pitchFamily="34" charset="-122"/>
                <a:cs typeface="Segoe UI" pitchFamily="34" charset="-120"/>
              </a:rPr>
              <a:t>Calibrated Gradient Boosting</a:t>
            </a:r>
            <a:endParaRPr lang="en-US" sz="1200" dirty="0"/>
          </a:p>
        </p:txBody>
      </p:sp>
      <p:sp>
        <p:nvSpPr>
          <p:cNvPr id="14" name="Shape 11"/>
          <p:cNvSpPr/>
          <p:nvPr/>
        </p:nvSpPr>
        <p:spPr>
          <a:xfrm>
            <a:off x="7703363" y="1691640"/>
            <a:ext cx="1608887" cy="960120"/>
          </a:xfrm>
          <a:prstGeom prst="rect">
            <a:avLst/>
          </a:prstGeom>
          <a:solidFill>
            <a:srgbClr val="6EE7B7"/>
          </a:solidFill>
          <a:ln w="25400">
            <a:solidFill>
              <a:srgbClr val="FAFAFA"/>
            </a:solidFill>
            <a:prstDash val="solid"/>
          </a:ln>
        </p:spPr>
      </p:sp>
      <p:sp>
        <p:nvSpPr>
          <p:cNvPr id="15" name="Text 12"/>
          <p:cNvSpPr/>
          <p:nvPr/>
        </p:nvSpPr>
        <p:spPr>
          <a:xfrm>
            <a:off x="7886243" y="1847088"/>
            <a:ext cx="1334567" cy="640080"/>
          </a:xfrm>
          <a:prstGeom prst="rect">
            <a:avLst/>
          </a:prstGeom>
          <a:noFill/>
          <a:ln/>
        </p:spPr>
        <p:txBody>
          <a:bodyPr wrap="square" lIns="0" tIns="0" rIns="0" bIns="0" rtlCol="0" anchor="t"/>
          <a:lstStyle/>
          <a:p>
            <a:pPr algn="l" indent="0" marL="0">
              <a:lnSpc>
                <a:spcPts val="3500"/>
              </a:lnSpc>
              <a:buNone/>
            </a:pPr>
            <a:r>
              <a:rPr lang="en-US" sz="3200" spc="-50" kern="0" dirty="0">
                <a:solidFill>
                  <a:srgbClr val="18181B"/>
                </a:solidFill>
                <a:latin typeface="Bahnschrift SemiBold" pitchFamily="34" charset="0"/>
                <a:ea typeface="Bahnschrift SemiBold" pitchFamily="34" charset="-122"/>
                <a:cs typeface="Bahnschrift SemiBold" pitchFamily="34" charset="-120"/>
              </a:rPr>
              <a:t>15%</a:t>
            </a:r>
            <a:endParaRPr lang="en-US" sz="3200" dirty="0"/>
          </a:p>
        </p:txBody>
      </p:sp>
      <p:sp>
        <p:nvSpPr>
          <p:cNvPr id="16" name="Text 13"/>
          <p:cNvSpPr/>
          <p:nvPr/>
        </p:nvSpPr>
        <p:spPr>
          <a:xfrm>
            <a:off x="7749083" y="2834640"/>
            <a:ext cx="1426007" cy="365760"/>
          </a:xfrm>
          <a:prstGeom prst="rect">
            <a:avLst/>
          </a:prstGeom>
          <a:noFill/>
          <a:ln/>
        </p:spPr>
        <p:txBody>
          <a:bodyPr wrap="square" lIns="0" tIns="0" rIns="0" bIns="0" rtlCol="0" anchor="t"/>
          <a:lstStyle/>
          <a:p>
            <a:pPr algn="l" indent="0" marL="0">
              <a:lnSpc>
                <a:spcPts val="2000"/>
              </a:lnSpc>
              <a:buNone/>
            </a:pPr>
            <a:r>
              <a:rPr lang="en-US" sz="1500" dirty="0">
                <a:solidFill>
                  <a:srgbClr val="18181B"/>
                </a:solidFill>
                <a:latin typeface="Bahnschrift SemiBold" pitchFamily="34" charset="0"/>
                <a:ea typeface="Bahnschrift SemiBold" pitchFamily="34" charset="-122"/>
                <a:cs typeface="Bahnschrift SemiBold" pitchFamily="34" charset="-120"/>
              </a:rPr>
              <a:t>Anomaly</a:t>
            </a:r>
            <a:endParaRPr lang="en-US" sz="1500" dirty="0"/>
          </a:p>
        </p:txBody>
      </p:sp>
      <p:sp>
        <p:nvSpPr>
          <p:cNvPr id="17" name="Text 14"/>
          <p:cNvSpPr/>
          <p:nvPr/>
        </p:nvSpPr>
        <p:spPr>
          <a:xfrm>
            <a:off x="7749083" y="3200400"/>
            <a:ext cx="1334567" cy="640080"/>
          </a:xfrm>
          <a:prstGeom prst="rect">
            <a:avLst/>
          </a:prstGeom>
          <a:noFill/>
          <a:ln/>
        </p:spPr>
        <p:txBody>
          <a:bodyPr wrap="square" lIns="0" tIns="0" rIns="0" bIns="0" rtlCol="0" anchor="t"/>
          <a:lstStyle/>
          <a:p>
            <a:pPr algn="l" indent="0" marL="0">
              <a:lnSpc>
                <a:spcPts val="1700"/>
              </a:lnSpc>
              <a:buNone/>
            </a:pPr>
            <a:r>
              <a:rPr lang="en-US" sz="1200" dirty="0">
                <a:solidFill>
                  <a:srgbClr val="52525B"/>
                </a:solidFill>
                <a:latin typeface="Segoe UI" pitchFamily="34" charset="0"/>
                <a:ea typeface="Segoe UI" pitchFamily="34" charset="-122"/>
                <a:cs typeface="Segoe UI" pitchFamily="34" charset="-120"/>
              </a:rPr>
              <a:t>Isolation Forest</a:t>
            </a:r>
            <a:endParaRPr lang="en-US" sz="1200" dirty="0"/>
          </a:p>
        </p:txBody>
      </p:sp>
      <p:sp>
        <p:nvSpPr>
          <p:cNvPr id="18" name="Shape 15"/>
          <p:cNvSpPr/>
          <p:nvPr/>
        </p:nvSpPr>
        <p:spPr>
          <a:xfrm>
            <a:off x="9312250" y="1691640"/>
            <a:ext cx="2145182" cy="960120"/>
          </a:xfrm>
          <a:prstGeom prst="rect">
            <a:avLst/>
          </a:prstGeom>
          <a:solidFill>
            <a:srgbClr val="E6F2ED"/>
          </a:solidFill>
          <a:ln w="25400">
            <a:solidFill>
              <a:srgbClr val="FAFAFA"/>
            </a:solidFill>
            <a:prstDash val="solid"/>
          </a:ln>
        </p:spPr>
      </p:sp>
      <p:sp>
        <p:nvSpPr>
          <p:cNvPr id="19" name="Text 16"/>
          <p:cNvSpPr/>
          <p:nvPr/>
        </p:nvSpPr>
        <p:spPr>
          <a:xfrm>
            <a:off x="9495130" y="1847088"/>
            <a:ext cx="1870862" cy="640080"/>
          </a:xfrm>
          <a:prstGeom prst="rect">
            <a:avLst/>
          </a:prstGeom>
          <a:noFill/>
          <a:ln/>
        </p:spPr>
        <p:txBody>
          <a:bodyPr wrap="square" lIns="0" tIns="0" rIns="0" bIns="0" rtlCol="0" anchor="t"/>
          <a:lstStyle/>
          <a:p>
            <a:pPr algn="l" indent="0" marL="0">
              <a:lnSpc>
                <a:spcPts val="3500"/>
              </a:lnSpc>
              <a:buNone/>
            </a:pPr>
            <a:r>
              <a:rPr lang="en-US" sz="3200" spc="-50" kern="0" dirty="0">
                <a:solidFill>
                  <a:srgbClr val="18181B"/>
                </a:solidFill>
                <a:latin typeface="Bahnschrift SemiBold" pitchFamily="34" charset="0"/>
                <a:ea typeface="Bahnschrift SemiBold" pitchFamily="34" charset="-122"/>
                <a:cs typeface="Bahnschrift SemiBold" pitchFamily="34" charset="-120"/>
              </a:rPr>
              <a:t>20%</a:t>
            </a:r>
            <a:endParaRPr lang="en-US" sz="3200" dirty="0"/>
          </a:p>
        </p:txBody>
      </p:sp>
      <p:sp>
        <p:nvSpPr>
          <p:cNvPr id="20" name="Text 17"/>
          <p:cNvSpPr/>
          <p:nvPr/>
        </p:nvSpPr>
        <p:spPr>
          <a:xfrm>
            <a:off x="9357970" y="2834640"/>
            <a:ext cx="1962302" cy="365760"/>
          </a:xfrm>
          <a:prstGeom prst="rect">
            <a:avLst/>
          </a:prstGeom>
          <a:noFill/>
          <a:ln/>
        </p:spPr>
        <p:txBody>
          <a:bodyPr wrap="square" lIns="0" tIns="0" rIns="0" bIns="0" rtlCol="0" anchor="t"/>
          <a:lstStyle/>
          <a:p>
            <a:pPr algn="l" indent="0" marL="0">
              <a:lnSpc>
                <a:spcPts val="2000"/>
              </a:lnSpc>
              <a:buNone/>
            </a:pPr>
            <a:r>
              <a:rPr lang="en-US" sz="1500" dirty="0">
                <a:solidFill>
                  <a:srgbClr val="18181B"/>
                </a:solidFill>
                <a:latin typeface="Bahnschrift SemiBold" pitchFamily="34" charset="0"/>
                <a:ea typeface="Bahnschrift SemiBold" pitchFamily="34" charset="-122"/>
                <a:cs typeface="Bahnschrift SemiBold" pitchFamily="34" charset="-120"/>
              </a:rPr>
              <a:t>Traffic signals</a:t>
            </a:r>
            <a:endParaRPr lang="en-US" sz="1500" dirty="0"/>
          </a:p>
        </p:txBody>
      </p:sp>
      <p:sp>
        <p:nvSpPr>
          <p:cNvPr id="21" name="Text 18"/>
          <p:cNvSpPr/>
          <p:nvPr/>
        </p:nvSpPr>
        <p:spPr>
          <a:xfrm>
            <a:off x="9357970" y="3200400"/>
            <a:ext cx="1870862" cy="640080"/>
          </a:xfrm>
          <a:prstGeom prst="rect">
            <a:avLst/>
          </a:prstGeom>
          <a:noFill/>
          <a:ln/>
        </p:spPr>
        <p:txBody>
          <a:bodyPr wrap="square" lIns="0" tIns="0" rIns="0" bIns="0" rtlCol="0" anchor="t"/>
          <a:lstStyle/>
          <a:p>
            <a:pPr algn="l" indent="0" marL="0">
              <a:lnSpc>
                <a:spcPts val="1700"/>
              </a:lnSpc>
              <a:buNone/>
            </a:pPr>
            <a:r>
              <a:rPr lang="en-US" sz="1200" dirty="0">
                <a:solidFill>
                  <a:srgbClr val="52525B"/>
                </a:solidFill>
                <a:latin typeface="Segoe UI" pitchFamily="34" charset="0"/>
                <a:ea typeface="Segoe UI" pitchFamily="34" charset="-122"/>
                <a:cs typeface="Segoe UI" pitchFamily="34" charset="-120"/>
              </a:rPr>
              <a:t>Rates, SYN, ports</a:t>
            </a:r>
            <a:endParaRPr lang="en-US" sz="1200" dirty="0"/>
          </a:p>
        </p:txBody>
      </p:sp>
      <p:sp>
        <p:nvSpPr>
          <p:cNvPr id="22" name="Text 19"/>
          <p:cNvSpPr/>
          <p:nvPr/>
        </p:nvSpPr>
        <p:spPr>
          <a:xfrm>
            <a:off x="731520" y="4251960"/>
            <a:ext cx="3657600" cy="365760"/>
          </a:xfrm>
          <a:prstGeom prst="rect">
            <a:avLst/>
          </a:prstGeom>
          <a:noFill/>
          <a:ln/>
        </p:spPr>
        <p:txBody>
          <a:bodyPr wrap="square" lIns="0" tIns="0" rIns="0" bIns="0" rtlCol="0" anchor="t"/>
          <a:lstStyle/>
          <a:p>
            <a:pPr algn="l" indent="0" marL="0">
              <a:lnSpc>
                <a:spcPts val="2200"/>
              </a:lnSpc>
              <a:buNone/>
            </a:pPr>
            <a:r>
              <a:rPr lang="en-US" sz="1700" dirty="0">
                <a:solidFill>
                  <a:srgbClr val="047857"/>
                </a:solidFill>
                <a:latin typeface="Bahnschrift SemiBold" pitchFamily="34" charset="0"/>
                <a:ea typeface="Bahnschrift SemiBold" pitchFamily="34" charset="-122"/>
                <a:cs typeface="Bahnschrift SemiBold" pitchFamily="34" charset="-120"/>
              </a:rPr>
              <a:t>Priority bands</a:t>
            </a:r>
            <a:endParaRPr lang="en-US" sz="1700" dirty="0"/>
          </a:p>
        </p:txBody>
      </p:sp>
      <p:sp>
        <p:nvSpPr>
          <p:cNvPr id="23" name="Text 20"/>
          <p:cNvSpPr/>
          <p:nvPr/>
        </p:nvSpPr>
        <p:spPr>
          <a:xfrm>
            <a:off x="731520" y="4754880"/>
            <a:ext cx="1188720" cy="640080"/>
          </a:xfrm>
          <a:prstGeom prst="rect">
            <a:avLst/>
          </a:prstGeom>
          <a:noFill/>
          <a:ln/>
        </p:spPr>
        <p:txBody>
          <a:bodyPr wrap="square" lIns="0" tIns="0" rIns="0" bIns="0" rtlCol="0" anchor="t"/>
          <a:lstStyle/>
          <a:p>
            <a:pPr algn="l" indent="0" marL="0">
              <a:lnSpc>
                <a:spcPts val="4000"/>
              </a:lnSpc>
              <a:buNone/>
            </a:pPr>
            <a:r>
              <a:rPr lang="en-US" sz="3600" spc="-50" kern="0" dirty="0">
                <a:solidFill>
                  <a:srgbClr val="18181B"/>
                </a:solidFill>
                <a:latin typeface="Bahnschrift SemiBold" pitchFamily="34" charset="0"/>
                <a:ea typeface="Bahnschrift SemiBold" pitchFamily="34" charset="-122"/>
                <a:cs typeface="Bahnschrift SemiBold" pitchFamily="34" charset="-120"/>
              </a:rPr>
              <a:t>P1</a:t>
            </a:r>
            <a:endParaRPr lang="en-US" sz="3600" dirty="0"/>
          </a:p>
        </p:txBody>
      </p:sp>
      <p:sp>
        <p:nvSpPr>
          <p:cNvPr id="24" name="Text 21"/>
          <p:cNvSpPr/>
          <p:nvPr/>
        </p:nvSpPr>
        <p:spPr>
          <a:xfrm>
            <a:off x="731520" y="5440680"/>
            <a:ext cx="1188720" cy="274320"/>
          </a:xfrm>
          <a:prstGeom prst="rect">
            <a:avLst/>
          </a:prstGeom>
          <a:noFill/>
          <a:ln/>
        </p:spPr>
        <p:txBody>
          <a:bodyPr wrap="square" lIns="0" tIns="0" rIns="0" bIns="0" rtlCol="0" anchor="t"/>
          <a:lstStyle/>
          <a:p>
            <a:pPr algn="l" indent="0" marL="0">
              <a:lnSpc>
                <a:spcPts val="1800"/>
              </a:lnSpc>
              <a:buNone/>
            </a:pPr>
            <a:r>
              <a:rPr lang="en-US" sz="1400" dirty="0">
                <a:solidFill>
                  <a:srgbClr val="18181B"/>
                </a:solidFill>
                <a:latin typeface="Bahnschrift SemiBold" pitchFamily="34" charset="0"/>
                <a:ea typeface="Bahnschrift SemiBold" pitchFamily="34" charset="-122"/>
                <a:cs typeface="Bahnschrift SemiBold" pitchFamily="34" charset="-120"/>
              </a:rPr>
              <a:t>Critical</a:t>
            </a:r>
            <a:endParaRPr lang="en-US" sz="1400" dirty="0"/>
          </a:p>
        </p:txBody>
      </p:sp>
      <p:sp>
        <p:nvSpPr>
          <p:cNvPr id="25" name="Text 22"/>
          <p:cNvSpPr/>
          <p:nvPr/>
        </p:nvSpPr>
        <p:spPr>
          <a:xfrm>
            <a:off x="731520" y="5715000"/>
            <a:ext cx="1188720" cy="274320"/>
          </a:xfrm>
          <a:prstGeom prst="rect">
            <a:avLst/>
          </a:prstGeom>
          <a:noFill/>
          <a:ln/>
        </p:spPr>
        <p:txBody>
          <a:bodyPr wrap="square" lIns="0" tIns="0" rIns="0" bIns="0" rtlCol="0" anchor="t"/>
          <a:lstStyle/>
          <a:p>
            <a:pPr algn="l" indent="0" marL="0">
              <a:lnSpc>
                <a:spcPts val="1600"/>
              </a:lnSpc>
              <a:buNone/>
            </a:pPr>
            <a:r>
              <a:rPr lang="en-US" sz="1200" dirty="0">
                <a:solidFill>
                  <a:srgbClr val="52525B"/>
                </a:solidFill>
                <a:latin typeface="Segoe UI" pitchFamily="34" charset="0"/>
                <a:ea typeface="Segoe UI" pitchFamily="34" charset="-122"/>
                <a:cs typeface="Segoe UI" pitchFamily="34" charset="-120"/>
              </a:rPr>
              <a:t>75+</a:t>
            </a:r>
            <a:endParaRPr lang="en-US" sz="1200" dirty="0"/>
          </a:p>
        </p:txBody>
      </p:sp>
      <p:sp>
        <p:nvSpPr>
          <p:cNvPr id="26" name="Text 23"/>
          <p:cNvSpPr/>
          <p:nvPr/>
        </p:nvSpPr>
        <p:spPr>
          <a:xfrm>
            <a:off x="2103120" y="4754880"/>
            <a:ext cx="1188720" cy="640080"/>
          </a:xfrm>
          <a:prstGeom prst="rect">
            <a:avLst/>
          </a:prstGeom>
          <a:noFill/>
          <a:ln/>
        </p:spPr>
        <p:txBody>
          <a:bodyPr wrap="square" lIns="0" tIns="0" rIns="0" bIns="0" rtlCol="0" anchor="t"/>
          <a:lstStyle/>
          <a:p>
            <a:pPr algn="l" indent="0" marL="0">
              <a:lnSpc>
                <a:spcPts val="4000"/>
              </a:lnSpc>
              <a:buNone/>
            </a:pPr>
            <a:r>
              <a:rPr lang="en-US" sz="3600" spc="-50" kern="0" dirty="0">
                <a:solidFill>
                  <a:srgbClr val="18181B"/>
                </a:solidFill>
                <a:latin typeface="Bahnschrift SemiBold" pitchFamily="34" charset="0"/>
                <a:ea typeface="Bahnschrift SemiBold" pitchFamily="34" charset="-122"/>
                <a:cs typeface="Bahnschrift SemiBold" pitchFamily="34" charset="-120"/>
              </a:rPr>
              <a:t>P2</a:t>
            </a:r>
            <a:endParaRPr lang="en-US" sz="3600" dirty="0"/>
          </a:p>
        </p:txBody>
      </p:sp>
      <p:sp>
        <p:nvSpPr>
          <p:cNvPr id="27" name="Text 24"/>
          <p:cNvSpPr/>
          <p:nvPr/>
        </p:nvSpPr>
        <p:spPr>
          <a:xfrm>
            <a:off x="2103120" y="5440680"/>
            <a:ext cx="1188720" cy="274320"/>
          </a:xfrm>
          <a:prstGeom prst="rect">
            <a:avLst/>
          </a:prstGeom>
          <a:noFill/>
          <a:ln/>
        </p:spPr>
        <p:txBody>
          <a:bodyPr wrap="square" lIns="0" tIns="0" rIns="0" bIns="0" rtlCol="0" anchor="t"/>
          <a:lstStyle/>
          <a:p>
            <a:pPr algn="l" indent="0" marL="0">
              <a:lnSpc>
                <a:spcPts val="1800"/>
              </a:lnSpc>
              <a:buNone/>
            </a:pPr>
            <a:r>
              <a:rPr lang="en-US" sz="1400" dirty="0">
                <a:solidFill>
                  <a:srgbClr val="18181B"/>
                </a:solidFill>
                <a:latin typeface="Bahnschrift SemiBold" pitchFamily="34" charset="0"/>
                <a:ea typeface="Bahnschrift SemiBold" pitchFamily="34" charset="-122"/>
                <a:cs typeface="Bahnschrift SemiBold" pitchFamily="34" charset="-120"/>
              </a:rPr>
              <a:t>High</a:t>
            </a:r>
            <a:endParaRPr lang="en-US" sz="1400" dirty="0"/>
          </a:p>
        </p:txBody>
      </p:sp>
      <p:sp>
        <p:nvSpPr>
          <p:cNvPr id="28" name="Text 25"/>
          <p:cNvSpPr/>
          <p:nvPr/>
        </p:nvSpPr>
        <p:spPr>
          <a:xfrm>
            <a:off x="2103120" y="5715000"/>
            <a:ext cx="1188720" cy="274320"/>
          </a:xfrm>
          <a:prstGeom prst="rect">
            <a:avLst/>
          </a:prstGeom>
          <a:noFill/>
          <a:ln/>
        </p:spPr>
        <p:txBody>
          <a:bodyPr wrap="square" lIns="0" tIns="0" rIns="0" bIns="0" rtlCol="0" anchor="t"/>
          <a:lstStyle/>
          <a:p>
            <a:pPr algn="l" indent="0" marL="0">
              <a:lnSpc>
                <a:spcPts val="1600"/>
              </a:lnSpc>
              <a:buNone/>
            </a:pPr>
            <a:r>
              <a:rPr lang="en-US" sz="1200" dirty="0">
                <a:solidFill>
                  <a:srgbClr val="52525B"/>
                </a:solidFill>
                <a:latin typeface="Segoe UI" pitchFamily="34" charset="0"/>
                <a:ea typeface="Segoe UI" pitchFamily="34" charset="-122"/>
                <a:cs typeface="Segoe UI" pitchFamily="34" charset="-120"/>
              </a:rPr>
              <a:t>55+</a:t>
            </a:r>
            <a:endParaRPr lang="en-US" sz="1200" dirty="0"/>
          </a:p>
        </p:txBody>
      </p:sp>
      <p:sp>
        <p:nvSpPr>
          <p:cNvPr id="29" name="Text 26"/>
          <p:cNvSpPr/>
          <p:nvPr/>
        </p:nvSpPr>
        <p:spPr>
          <a:xfrm>
            <a:off x="3474720" y="4754880"/>
            <a:ext cx="1188720" cy="640080"/>
          </a:xfrm>
          <a:prstGeom prst="rect">
            <a:avLst/>
          </a:prstGeom>
          <a:noFill/>
          <a:ln/>
        </p:spPr>
        <p:txBody>
          <a:bodyPr wrap="square" lIns="0" tIns="0" rIns="0" bIns="0" rtlCol="0" anchor="t"/>
          <a:lstStyle/>
          <a:p>
            <a:pPr algn="l" indent="0" marL="0">
              <a:lnSpc>
                <a:spcPts val="4000"/>
              </a:lnSpc>
              <a:buNone/>
            </a:pPr>
            <a:r>
              <a:rPr lang="en-US" sz="3600" spc="-50" kern="0" dirty="0">
                <a:solidFill>
                  <a:srgbClr val="18181B"/>
                </a:solidFill>
                <a:latin typeface="Bahnschrift SemiBold" pitchFamily="34" charset="0"/>
                <a:ea typeface="Bahnschrift SemiBold" pitchFamily="34" charset="-122"/>
                <a:cs typeface="Bahnschrift SemiBold" pitchFamily="34" charset="-120"/>
              </a:rPr>
              <a:t>P3</a:t>
            </a:r>
            <a:endParaRPr lang="en-US" sz="3600" dirty="0"/>
          </a:p>
        </p:txBody>
      </p:sp>
      <p:sp>
        <p:nvSpPr>
          <p:cNvPr id="30" name="Text 27"/>
          <p:cNvSpPr/>
          <p:nvPr/>
        </p:nvSpPr>
        <p:spPr>
          <a:xfrm>
            <a:off x="3474720" y="5440680"/>
            <a:ext cx="1188720" cy="274320"/>
          </a:xfrm>
          <a:prstGeom prst="rect">
            <a:avLst/>
          </a:prstGeom>
          <a:noFill/>
          <a:ln/>
        </p:spPr>
        <p:txBody>
          <a:bodyPr wrap="square" lIns="0" tIns="0" rIns="0" bIns="0" rtlCol="0" anchor="t"/>
          <a:lstStyle/>
          <a:p>
            <a:pPr algn="l" indent="0" marL="0">
              <a:lnSpc>
                <a:spcPts val="1800"/>
              </a:lnSpc>
              <a:buNone/>
            </a:pPr>
            <a:r>
              <a:rPr lang="en-US" sz="1400" dirty="0">
                <a:solidFill>
                  <a:srgbClr val="18181B"/>
                </a:solidFill>
                <a:latin typeface="Bahnschrift SemiBold" pitchFamily="34" charset="0"/>
                <a:ea typeface="Bahnschrift SemiBold" pitchFamily="34" charset="-122"/>
                <a:cs typeface="Bahnschrift SemiBold" pitchFamily="34" charset="-120"/>
              </a:rPr>
              <a:t>Medium</a:t>
            </a:r>
            <a:endParaRPr lang="en-US" sz="1400" dirty="0"/>
          </a:p>
        </p:txBody>
      </p:sp>
      <p:sp>
        <p:nvSpPr>
          <p:cNvPr id="31" name="Text 28"/>
          <p:cNvSpPr/>
          <p:nvPr/>
        </p:nvSpPr>
        <p:spPr>
          <a:xfrm>
            <a:off x="3474720" y="5715000"/>
            <a:ext cx="1188720" cy="274320"/>
          </a:xfrm>
          <a:prstGeom prst="rect">
            <a:avLst/>
          </a:prstGeom>
          <a:noFill/>
          <a:ln/>
        </p:spPr>
        <p:txBody>
          <a:bodyPr wrap="square" lIns="0" tIns="0" rIns="0" bIns="0" rtlCol="0" anchor="t"/>
          <a:lstStyle/>
          <a:p>
            <a:pPr algn="l" indent="0" marL="0">
              <a:lnSpc>
                <a:spcPts val="1600"/>
              </a:lnSpc>
              <a:buNone/>
            </a:pPr>
            <a:r>
              <a:rPr lang="en-US" sz="1200" dirty="0">
                <a:solidFill>
                  <a:srgbClr val="52525B"/>
                </a:solidFill>
                <a:latin typeface="Segoe UI" pitchFamily="34" charset="0"/>
                <a:ea typeface="Segoe UI" pitchFamily="34" charset="-122"/>
                <a:cs typeface="Segoe UI" pitchFamily="34" charset="-120"/>
              </a:rPr>
              <a:t>35+</a:t>
            </a:r>
            <a:endParaRPr lang="en-US" sz="1200" dirty="0"/>
          </a:p>
        </p:txBody>
      </p:sp>
      <p:sp>
        <p:nvSpPr>
          <p:cNvPr id="32" name="Text 29"/>
          <p:cNvSpPr/>
          <p:nvPr/>
        </p:nvSpPr>
        <p:spPr>
          <a:xfrm>
            <a:off x="4846320" y="4754880"/>
            <a:ext cx="1188720" cy="640080"/>
          </a:xfrm>
          <a:prstGeom prst="rect">
            <a:avLst/>
          </a:prstGeom>
          <a:noFill/>
          <a:ln/>
        </p:spPr>
        <p:txBody>
          <a:bodyPr wrap="square" lIns="0" tIns="0" rIns="0" bIns="0" rtlCol="0" anchor="t"/>
          <a:lstStyle/>
          <a:p>
            <a:pPr algn="l" indent="0" marL="0">
              <a:lnSpc>
                <a:spcPts val="4000"/>
              </a:lnSpc>
              <a:buNone/>
            </a:pPr>
            <a:r>
              <a:rPr lang="en-US" sz="3600" spc="-50" kern="0" dirty="0">
                <a:solidFill>
                  <a:srgbClr val="18181B"/>
                </a:solidFill>
                <a:latin typeface="Bahnschrift SemiBold" pitchFamily="34" charset="0"/>
                <a:ea typeface="Bahnschrift SemiBold" pitchFamily="34" charset="-122"/>
                <a:cs typeface="Bahnschrift SemiBold" pitchFamily="34" charset="-120"/>
              </a:rPr>
              <a:t>P4</a:t>
            </a:r>
            <a:endParaRPr lang="en-US" sz="3600" dirty="0"/>
          </a:p>
        </p:txBody>
      </p:sp>
      <p:sp>
        <p:nvSpPr>
          <p:cNvPr id="33" name="Text 30"/>
          <p:cNvSpPr/>
          <p:nvPr/>
        </p:nvSpPr>
        <p:spPr>
          <a:xfrm>
            <a:off x="4846320" y="5440680"/>
            <a:ext cx="1188720" cy="274320"/>
          </a:xfrm>
          <a:prstGeom prst="rect">
            <a:avLst/>
          </a:prstGeom>
          <a:noFill/>
          <a:ln/>
        </p:spPr>
        <p:txBody>
          <a:bodyPr wrap="square" lIns="0" tIns="0" rIns="0" bIns="0" rtlCol="0" anchor="t"/>
          <a:lstStyle/>
          <a:p>
            <a:pPr algn="l" indent="0" marL="0">
              <a:lnSpc>
                <a:spcPts val="1800"/>
              </a:lnSpc>
              <a:buNone/>
            </a:pPr>
            <a:r>
              <a:rPr lang="en-US" sz="1400" dirty="0">
                <a:solidFill>
                  <a:srgbClr val="18181B"/>
                </a:solidFill>
                <a:latin typeface="Bahnschrift SemiBold" pitchFamily="34" charset="0"/>
                <a:ea typeface="Bahnschrift SemiBold" pitchFamily="34" charset="-122"/>
                <a:cs typeface="Bahnschrift SemiBold" pitchFamily="34" charset="-120"/>
              </a:rPr>
              <a:t>Low</a:t>
            </a:r>
            <a:endParaRPr lang="en-US" sz="1400" dirty="0"/>
          </a:p>
        </p:txBody>
      </p:sp>
      <p:sp>
        <p:nvSpPr>
          <p:cNvPr id="34" name="Text 31"/>
          <p:cNvSpPr/>
          <p:nvPr/>
        </p:nvSpPr>
        <p:spPr>
          <a:xfrm>
            <a:off x="4846320" y="5715000"/>
            <a:ext cx="1188720" cy="274320"/>
          </a:xfrm>
          <a:prstGeom prst="rect">
            <a:avLst/>
          </a:prstGeom>
          <a:noFill/>
          <a:ln/>
        </p:spPr>
        <p:txBody>
          <a:bodyPr wrap="square" lIns="0" tIns="0" rIns="0" bIns="0" rtlCol="0" anchor="t"/>
          <a:lstStyle/>
          <a:p>
            <a:pPr algn="l" indent="0" marL="0">
              <a:lnSpc>
                <a:spcPts val="1600"/>
              </a:lnSpc>
              <a:buNone/>
            </a:pPr>
            <a:r>
              <a:rPr lang="en-US" sz="1200" dirty="0">
                <a:solidFill>
                  <a:srgbClr val="52525B"/>
                </a:solidFill>
                <a:latin typeface="Segoe UI" pitchFamily="34" charset="0"/>
                <a:ea typeface="Segoe UI" pitchFamily="34" charset="-122"/>
                <a:cs typeface="Segoe UI" pitchFamily="34" charset="-120"/>
              </a:rPr>
              <a:t>below 35</a:t>
            </a:r>
            <a:endParaRPr lang="en-US" sz="1200" dirty="0"/>
          </a:p>
        </p:txBody>
      </p:sp>
      <p:sp>
        <p:nvSpPr>
          <p:cNvPr id="35" name="Shape 32"/>
          <p:cNvSpPr/>
          <p:nvPr/>
        </p:nvSpPr>
        <p:spPr>
          <a:xfrm>
            <a:off x="6492240" y="4251960"/>
            <a:ext cx="4965192" cy="1737360"/>
          </a:xfrm>
          <a:prstGeom prst="roundRect">
            <a:avLst>
              <a:gd name="adj" fmla="val 4211"/>
            </a:avLst>
          </a:prstGeom>
          <a:solidFill>
            <a:srgbClr val="E6F2ED"/>
          </a:solidFill>
          <a:ln/>
        </p:spPr>
      </p:sp>
      <p:sp>
        <p:nvSpPr>
          <p:cNvPr id="36" name="Text 33"/>
          <p:cNvSpPr/>
          <p:nvPr/>
        </p:nvSpPr>
        <p:spPr>
          <a:xfrm>
            <a:off x="6766560" y="4480560"/>
            <a:ext cx="4389120" cy="365760"/>
          </a:xfrm>
          <a:prstGeom prst="rect">
            <a:avLst/>
          </a:prstGeom>
          <a:noFill/>
          <a:ln/>
        </p:spPr>
        <p:txBody>
          <a:bodyPr wrap="square" lIns="0" tIns="0" rIns="0" bIns="0" rtlCol="0" anchor="t"/>
          <a:lstStyle/>
          <a:p>
            <a:pPr algn="l" indent="0" marL="0">
              <a:lnSpc>
                <a:spcPts val="2200"/>
              </a:lnSpc>
              <a:buNone/>
            </a:pPr>
            <a:r>
              <a:rPr lang="en-US" sz="1700" dirty="0">
                <a:solidFill>
                  <a:srgbClr val="047857"/>
                </a:solidFill>
                <a:latin typeface="Bahnschrift SemiBold" pitchFamily="34" charset="0"/>
                <a:ea typeface="Bahnschrift SemiBold" pitchFamily="34" charset="-122"/>
                <a:cs typeface="Bahnschrift SemiBold" pitchFamily="34" charset="-120"/>
              </a:rPr>
              <a:t>Policy floors</a:t>
            </a:r>
            <a:endParaRPr lang="en-US" sz="1700" dirty="0"/>
          </a:p>
        </p:txBody>
      </p:sp>
      <p:sp>
        <p:nvSpPr>
          <p:cNvPr id="37" name="Text 34"/>
          <p:cNvSpPr/>
          <p:nvPr/>
        </p:nvSpPr>
        <p:spPr>
          <a:xfrm>
            <a:off x="6766560" y="4937760"/>
            <a:ext cx="4434840" cy="914400"/>
          </a:xfrm>
          <a:prstGeom prst="rect">
            <a:avLst/>
          </a:prstGeom>
          <a:noFill/>
          <a:ln/>
        </p:spPr>
        <p:txBody>
          <a:bodyPr wrap="square" lIns="0" tIns="0" rIns="0" bIns="0" rtlCol="0" anchor="t"/>
          <a:lstStyle/>
          <a:p>
            <a:pPr algn="l" indent="0" marL="0">
              <a:lnSpc>
                <a:spcPts val="2000"/>
              </a:lnSpc>
              <a:buNone/>
            </a:pPr>
            <a:r>
              <a:rPr lang="en-US" sz="1400" dirty="0">
                <a:solidFill>
                  <a:srgbClr val="18181B"/>
                </a:solidFill>
                <a:latin typeface="Segoe UI" pitchFamily="34" charset="0"/>
                <a:ea typeface="Segoe UI" pitchFamily="34" charset="-122"/>
                <a:cs typeface="Segoe UI" pitchFamily="34" charset="-120"/>
              </a:rPr>
              <a:t>Confident Heartbleed or Infiltration is always Critical. Botnet is never below High. Confirmed benign flows stay P4.</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566928"/>
            <a:ext cx="10698480" cy="731520"/>
          </a:xfrm>
          <a:prstGeom prst="rect">
            <a:avLst/>
          </a:prstGeom>
          <a:noFill/>
          <a:ln/>
        </p:spPr>
        <p:txBody>
          <a:bodyPr wrap="square" lIns="0" tIns="0" rIns="0" bIns="0" rtlCol="0" anchor="t"/>
          <a:lstStyle/>
          <a:p>
            <a:pPr algn="l" indent="0" marL="0">
              <a:lnSpc>
                <a:spcPts val="3900"/>
              </a:lnSpc>
              <a:buNone/>
            </a:pPr>
            <a:r>
              <a:rPr lang="en-US" sz="3400" spc="-50" kern="0" dirty="0">
                <a:solidFill>
                  <a:srgbClr val="18181B"/>
                </a:solidFill>
                <a:latin typeface="Bahnschrift SemiBold" pitchFamily="34" charset="0"/>
                <a:ea typeface="Bahnschrift SemiBold" pitchFamily="34" charset="-122"/>
                <a:cs typeface="Bahnschrift SemiBold" pitchFamily="34" charset="-120"/>
              </a:rPr>
              <a:t>Built so analysts can trust it</a:t>
            </a:r>
            <a:endParaRPr lang="en-US" sz="3400" dirty="0"/>
          </a:p>
        </p:txBody>
      </p:sp>
      <p:sp>
        <p:nvSpPr>
          <p:cNvPr id="3" name="Text 1"/>
          <p:cNvSpPr/>
          <p:nvPr/>
        </p:nvSpPr>
        <p:spPr>
          <a:xfrm>
            <a:off x="731520" y="6400800"/>
            <a:ext cx="3657600" cy="228600"/>
          </a:xfrm>
          <a:prstGeom prst="rect">
            <a:avLst/>
          </a:prstGeom>
          <a:noFill/>
          <a:ln/>
        </p:spPr>
        <p:txBody>
          <a:bodyPr wrap="square" lIns="0" tIns="0" rIns="0" bIns="0" rtlCol="0" anchor="t"/>
          <a:lstStyle/>
          <a:p>
            <a:pPr algn="l" indent="0" marL="0">
              <a:lnSpc>
                <a:spcPts val="1300"/>
              </a:lnSpc>
              <a:buNone/>
            </a:pPr>
            <a:r>
              <a:rPr lang="en-US" sz="1000" dirty="0">
                <a:solidFill>
                  <a:srgbClr val="52525B"/>
                </a:solidFill>
                <a:latin typeface="Segoe UI" pitchFamily="34" charset="0"/>
                <a:ea typeface="Segoe UI" pitchFamily="34" charset="-122"/>
                <a:cs typeface="Segoe UI" pitchFamily="34" charset="-120"/>
              </a:rPr>
              <a:t>Incident Response Assistant</a:t>
            </a:r>
            <a:endParaRPr lang="en-US" sz="1000" dirty="0"/>
          </a:p>
        </p:txBody>
      </p:sp>
      <p:sp>
        <p:nvSpPr>
          <p:cNvPr id="4" name="Text 2"/>
          <p:cNvSpPr/>
          <p:nvPr/>
        </p:nvSpPr>
        <p:spPr>
          <a:xfrm>
            <a:off x="10725912" y="6400800"/>
            <a:ext cx="731520" cy="228600"/>
          </a:xfrm>
          <a:prstGeom prst="rect">
            <a:avLst/>
          </a:prstGeom>
          <a:noFill/>
          <a:ln/>
        </p:spPr>
        <p:txBody>
          <a:bodyPr wrap="square" lIns="0" tIns="0" rIns="0" bIns="0" rtlCol="0" anchor="t"/>
          <a:lstStyle/>
          <a:p>
            <a:pPr algn="r" indent="0" marL="0">
              <a:lnSpc>
                <a:spcPts val="1300"/>
              </a:lnSpc>
              <a:buNone/>
            </a:pPr>
            <a:r>
              <a:rPr lang="en-US" sz="1000" dirty="0">
                <a:solidFill>
                  <a:srgbClr val="52525B"/>
                </a:solidFill>
                <a:latin typeface="Segoe UI" pitchFamily="34" charset="0"/>
                <a:ea typeface="Segoe UI" pitchFamily="34" charset="-122"/>
                <a:cs typeface="Segoe UI" pitchFamily="34" charset="-120"/>
              </a:rPr>
              <a:t>8</a:t>
            </a:r>
            <a:endParaRPr lang="en-US" sz="1000" dirty="0"/>
          </a:p>
        </p:txBody>
      </p:sp>
      <p:sp>
        <p:nvSpPr>
          <p:cNvPr id="6" name="Text 3"/>
          <p:cNvSpPr/>
          <p:nvPr/>
        </p:nvSpPr>
        <p:spPr>
          <a:xfrm>
            <a:off x="731520" y="1600200"/>
            <a:ext cx="5029200" cy="365760"/>
          </a:xfrm>
          <a:prstGeom prst="rect">
            <a:avLst/>
          </a:prstGeom>
          <a:noFill/>
          <a:ln/>
        </p:spPr>
        <p:txBody>
          <a:bodyPr wrap="square" lIns="0" tIns="0" rIns="0" bIns="0" rtlCol="0" anchor="t"/>
          <a:lstStyle/>
          <a:p>
            <a:pPr algn="l" indent="0" marL="0">
              <a:lnSpc>
                <a:spcPts val="2200"/>
              </a:lnSpc>
              <a:buNone/>
            </a:pPr>
            <a:r>
              <a:rPr lang="en-US" sz="1700" dirty="0">
                <a:solidFill>
                  <a:srgbClr val="047857"/>
                </a:solidFill>
                <a:latin typeface="Bahnschrift SemiBold" pitchFamily="34" charset="0"/>
                <a:ea typeface="Bahnschrift SemiBold" pitchFamily="34" charset="-122"/>
                <a:cs typeface="Bahnschrift SemiBold" pitchFamily="34" charset="-120"/>
              </a:rPr>
              <a:t>Four guardrail layers</a:t>
            </a:r>
            <a:endParaRPr lang="en-US" sz="1700" dirty="0"/>
          </a:p>
        </p:txBody>
      </p:sp>
      <p:sp>
        <p:nvSpPr>
          <p:cNvPr id="7" name="Text 4"/>
          <p:cNvSpPr/>
          <p:nvPr/>
        </p:nvSpPr>
        <p:spPr>
          <a:xfrm>
            <a:off x="731520" y="2148840"/>
            <a:ext cx="5029200" cy="365760"/>
          </a:xfrm>
          <a:prstGeom prst="rect">
            <a:avLst/>
          </a:prstGeom>
          <a:noFill/>
          <a:ln/>
        </p:spPr>
        <p:txBody>
          <a:bodyPr wrap="square" lIns="0" tIns="0" rIns="0" bIns="0" rtlCol="0" anchor="t"/>
          <a:lstStyle/>
          <a:p>
            <a:pPr algn="l" indent="0" marL="0">
              <a:lnSpc>
                <a:spcPts val="2600"/>
              </a:lnSpc>
              <a:buNone/>
            </a:pPr>
            <a:r>
              <a:rPr lang="en-US" sz="2000" dirty="0">
                <a:solidFill>
                  <a:srgbClr val="18181B"/>
                </a:solidFill>
                <a:latin typeface="Bahnschrift SemiBold" pitchFamily="34" charset="0"/>
                <a:ea typeface="Bahnschrift SemiBold" pitchFamily="34" charset="-122"/>
                <a:cs typeface="Bahnschrift SemiBold" pitchFamily="34" charset="-120"/>
              </a:rPr>
              <a:t>Schema bounds</a:t>
            </a:r>
            <a:endParaRPr lang="en-US" sz="2000" dirty="0"/>
          </a:p>
        </p:txBody>
      </p:sp>
      <p:sp>
        <p:nvSpPr>
          <p:cNvPr id="8" name="Text 5"/>
          <p:cNvSpPr/>
          <p:nvPr/>
        </p:nvSpPr>
        <p:spPr>
          <a:xfrm>
            <a:off x="731520" y="2532888"/>
            <a:ext cx="5029200" cy="365760"/>
          </a:xfrm>
          <a:prstGeom prst="rect">
            <a:avLst/>
          </a:prstGeom>
          <a:noFill/>
          <a:ln/>
        </p:spPr>
        <p:txBody>
          <a:bodyPr wrap="square" lIns="0" tIns="0" rIns="0" bIns="0" rtlCol="0" anchor="t"/>
          <a:lstStyle/>
          <a:p>
            <a:pPr algn="l" indent="0" marL="0">
              <a:lnSpc>
                <a:spcPts val="1800"/>
              </a:lnSpc>
              <a:buNone/>
            </a:pPr>
            <a:r>
              <a:rPr lang="en-US" sz="1400" dirty="0">
                <a:solidFill>
                  <a:srgbClr val="52525B"/>
                </a:solidFill>
                <a:latin typeface="Segoe UI" pitchFamily="34" charset="0"/>
                <a:ea typeface="Segoe UI" pitchFamily="34" charset="-122"/>
                <a:cs typeface="Segoe UI" pitchFamily="34" charset="-120"/>
              </a:rPr>
              <a:t>IP, port and range checks on every flow</a:t>
            </a:r>
            <a:endParaRPr lang="en-US" sz="1400" dirty="0"/>
          </a:p>
        </p:txBody>
      </p:sp>
      <p:sp>
        <p:nvSpPr>
          <p:cNvPr id="9" name="Text 6"/>
          <p:cNvSpPr/>
          <p:nvPr/>
        </p:nvSpPr>
        <p:spPr>
          <a:xfrm>
            <a:off x="731520" y="3108960"/>
            <a:ext cx="5029200" cy="365760"/>
          </a:xfrm>
          <a:prstGeom prst="rect">
            <a:avLst/>
          </a:prstGeom>
          <a:noFill/>
          <a:ln/>
        </p:spPr>
        <p:txBody>
          <a:bodyPr wrap="square" lIns="0" tIns="0" rIns="0" bIns="0" rtlCol="0" anchor="t"/>
          <a:lstStyle/>
          <a:p>
            <a:pPr algn="l" indent="0" marL="0">
              <a:lnSpc>
                <a:spcPts val="2600"/>
              </a:lnSpc>
              <a:buNone/>
            </a:pPr>
            <a:r>
              <a:rPr lang="en-US" sz="2000" dirty="0">
                <a:solidFill>
                  <a:srgbClr val="18181B"/>
                </a:solidFill>
                <a:latin typeface="Bahnschrift SemiBold" pitchFamily="34" charset="0"/>
                <a:ea typeface="Bahnschrift SemiBold" pitchFamily="34" charset="-122"/>
                <a:cs typeface="Bahnschrift SemiBold" pitchFamily="34" charset="-120"/>
              </a:rPr>
              <a:t>Injection filter</a:t>
            </a:r>
            <a:endParaRPr lang="en-US" sz="2000" dirty="0"/>
          </a:p>
        </p:txBody>
      </p:sp>
      <p:sp>
        <p:nvSpPr>
          <p:cNvPr id="10" name="Text 7"/>
          <p:cNvSpPr/>
          <p:nvPr/>
        </p:nvSpPr>
        <p:spPr>
          <a:xfrm>
            <a:off x="731520" y="3493008"/>
            <a:ext cx="5029200" cy="365760"/>
          </a:xfrm>
          <a:prstGeom prst="rect">
            <a:avLst/>
          </a:prstGeom>
          <a:noFill/>
          <a:ln/>
        </p:spPr>
        <p:txBody>
          <a:bodyPr wrap="square" lIns="0" tIns="0" rIns="0" bIns="0" rtlCol="0" anchor="t"/>
          <a:lstStyle/>
          <a:p>
            <a:pPr algn="l" indent="0" marL="0">
              <a:lnSpc>
                <a:spcPts val="1800"/>
              </a:lnSpc>
              <a:buNone/>
            </a:pPr>
            <a:r>
              <a:rPr lang="en-US" sz="1400" dirty="0">
                <a:solidFill>
                  <a:srgbClr val="52525B"/>
                </a:solidFill>
                <a:latin typeface="Segoe UI" pitchFamily="34" charset="0"/>
                <a:ea typeface="Segoe UI" pitchFamily="34" charset="-122"/>
                <a:cs typeface="Segoe UI" pitchFamily="34" charset="-120"/>
              </a:rPr>
              <a:t>Screens text for adversarial prompts</a:t>
            </a:r>
            <a:endParaRPr lang="en-US" sz="1400" dirty="0"/>
          </a:p>
        </p:txBody>
      </p:sp>
      <p:sp>
        <p:nvSpPr>
          <p:cNvPr id="11" name="Text 8"/>
          <p:cNvSpPr/>
          <p:nvPr/>
        </p:nvSpPr>
        <p:spPr>
          <a:xfrm>
            <a:off x="731520" y="4069080"/>
            <a:ext cx="5029200" cy="365760"/>
          </a:xfrm>
          <a:prstGeom prst="rect">
            <a:avLst/>
          </a:prstGeom>
          <a:noFill/>
          <a:ln/>
        </p:spPr>
        <p:txBody>
          <a:bodyPr wrap="square" lIns="0" tIns="0" rIns="0" bIns="0" rtlCol="0" anchor="t"/>
          <a:lstStyle/>
          <a:p>
            <a:pPr algn="l" indent="0" marL="0">
              <a:lnSpc>
                <a:spcPts val="2600"/>
              </a:lnSpc>
              <a:buNone/>
            </a:pPr>
            <a:r>
              <a:rPr lang="en-US" sz="2000" dirty="0">
                <a:solidFill>
                  <a:srgbClr val="18181B"/>
                </a:solidFill>
                <a:latin typeface="Bahnschrift SemiBold" pitchFamily="34" charset="0"/>
                <a:ea typeface="Bahnschrift SemiBold" pitchFamily="34" charset="-122"/>
                <a:cs typeface="Bahnschrift SemiBold" pitchFamily="34" charset="-120"/>
              </a:rPr>
              <a:t>Output structure</a:t>
            </a:r>
            <a:endParaRPr lang="en-US" sz="2000" dirty="0"/>
          </a:p>
        </p:txBody>
      </p:sp>
      <p:sp>
        <p:nvSpPr>
          <p:cNvPr id="12" name="Text 9"/>
          <p:cNvSpPr/>
          <p:nvPr/>
        </p:nvSpPr>
        <p:spPr>
          <a:xfrm>
            <a:off x="731520" y="4453128"/>
            <a:ext cx="5029200" cy="365760"/>
          </a:xfrm>
          <a:prstGeom prst="rect">
            <a:avLst/>
          </a:prstGeom>
          <a:noFill/>
          <a:ln/>
        </p:spPr>
        <p:txBody>
          <a:bodyPr wrap="square" lIns="0" tIns="0" rIns="0" bIns="0" rtlCol="0" anchor="t"/>
          <a:lstStyle/>
          <a:p>
            <a:pPr algn="l" indent="0" marL="0">
              <a:lnSpc>
                <a:spcPts val="1800"/>
              </a:lnSpc>
              <a:buNone/>
            </a:pPr>
            <a:r>
              <a:rPr lang="en-US" sz="1400" dirty="0">
                <a:solidFill>
                  <a:srgbClr val="52525B"/>
                </a:solidFill>
                <a:latin typeface="Segoe UI" pitchFamily="34" charset="0"/>
                <a:ea typeface="Segoe UI" pitchFamily="34" charset="-122"/>
                <a:cs typeface="Segoe UI" pitchFamily="34" charset="-120"/>
              </a:rPr>
              <a:t>Enforces the four-section report format</a:t>
            </a:r>
            <a:endParaRPr lang="en-US" sz="1400" dirty="0"/>
          </a:p>
        </p:txBody>
      </p:sp>
      <p:sp>
        <p:nvSpPr>
          <p:cNvPr id="13" name="Text 10"/>
          <p:cNvSpPr/>
          <p:nvPr/>
        </p:nvSpPr>
        <p:spPr>
          <a:xfrm>
            <a:off x="731520" y="5029200"/>
            <a:ext cx="5029200" cy="365760"/>
          </a:xfrm>
          <a:prstGeom prst="rect">
            <a:avLst/>
          </a:prstGeom>
          <a:noFill/>
          <a:ln/>
        </p:spPr>
        <p:txBody>
          <a:bodyPr wrap="square" lIns="0" tIns="0" rIns="0" bIns="0" rtlCol="0" anchor="t"/>
          <a:lstStyle/>
          <a:p>
            <a:pPr algn="l" indent="0" marL="0">
              <a:lnSpc>
                <a:spcPts val="2600"/>
              </a:lnSpc>
              <a:buNone/>
            </a:pPr>
            <a:r>
              <a:rPr lang="en-US" sz="2000" dirty="0">
                <a:solidFill>
                  <a:srgbClr val="18181B"/>
                </a:solidFill>
                <a:latin typeface="Bahnschrift SemiBold" pitchFamily="34" charset="0"/>
                <a:ea typeface="Bahnschrift SemiBold" pitchFamily="34" charset="-122"/>
                <a:cs typeface="Bahnschrift SemiBold" pitchFamily="34" charset="-120"/>
              </a:rPr>
              <a:t>Evidence check</a:t>
            </a:r>
            <a:endParaRPr lang="en-US" sz="2000" dirty="0"/>
          </a:p>
        </p:txBody>
      </p:sp>
      <p:sp>
        <p:nvSpPr>
          <p:cNvPr id="14" name="Text 11"/>
          <p:cNvSpPr/>
          <p:nvPr/>
        </p:nvSpPr>
        <p:spPr>
          <a:xfrm>
            <a:off x="731520" y="5413248"/>
            <a:ext cx="5029200" cy="365760"/>
          </a:xfrm>
          <a:prstGeom prst="rect">
            <a:avLst/>
          </a:prstGeom>
          <a:noFill/>
          <a:ln/>
        </p:spPr>
        <p:txBody>
          <a:bodyPr wrap="square" lIns="0" tIns="0" rIns="0" bIns="0" rtlCol="0" anchor="t"/>
          <a:lstStyle/>
          <a:p>
            <a:pPr algn="l" indent="0" marL="0">
              <a:lnSpc>
                <a:spcPts val="1800"/>
              </a:lnSpc>
              <a:buNone/>
            </a:pPr>
            <a:r>
              <a:rPr lang="en-US" sz="1400" dirty="0">
                <a:solidFill>
                  <a:srgbClr val="52525B"/>
                </a:solidFill>
                <a:latin typeface="Segoe UI" pitchFamily="34" charset="0"/>
                <a:ea typeface="Segoe UI" pitchFamily="34" charset="-122"/>
                <a:cs typeface="Segoe UI" pitchFamily="34" charset="-120"/>
              </a:rPr>
              <a:t>Rejects incident IDs that were never retrieved</a:t>
            </a:r>
            <a:endParaRPr lang="en-US" sz="1400" dirty="0"/>
          </a:p>
        </p:txBody>
      </p:sp>
      <p:sp>
        <p:nvSpPr>
          <p:cNvPr id="15" name="Shape 12"/>
          <p:cNvSpPr/>
          <p:nvPr/>
        </p:nvSpPr>
        <p:spPr>
          <a:xfrm>
            <a:off x="6309360" y="1600200"/>
            <a:ext cx="5148072" cy="2148840"/>
          </a:xfrm>
          <a:prstGeom prst="roundRect">
            <a:avLst>
              <a:gd name="adj" fmla="val 3404"/>
            </a:avLst>
          </a:prstGeom>
          <a:solidFill>
            <a:srgbClr val="18181B"/>
          </a:solidFill>
          <a:ln/>
        </p:spPr>
      </p:sp>
      <p:sp>
        <p:nvSpPr>
          <p:cNvPr id="16" name="Text 13"/>
          <p:cNvSpPr/>
          <p:nvPr/>
        </p:nvSpPr>
        <p:spPr>
          <a:xfrm>
            <a:off x="6629400" y="1874520"/>
            <a:ext cx="4572000" cy="914400"/>
          </a:xfrm>
          <a:prstGeom prst="rect">
            <a:avLst/>
          </a:prstGeom>
          <a:noFill/>
          <a:ln/>
        </p:spPr>
        <p:txBody>
          <a:bodyPr wrap="square" lIns="0" tIns="0" rIns="0" bIns="0" rtlCol="0" anchor="t"/>
          <a:lstStyle/>
          <a:p>
            <a:pPr algn="l" indent="0" marL="0">
              <a:lnSpc>
                <a:spcPts val="3100"/>
              </a:lnSpc>
              <a:buNone/>
            </a:pPr>
            <a:r>
              <a:rPr lang="en-US" sz="2600" spc="-40" kern="0" dirty="0">
                <a:solidFill>
                  <a:srgbClr val="FFFFFF"/>
                </a:solidFill>
                <a:latin typeface="Bahnschrift SemiBold" pitchFamily="34" charset="0"/>
                <a:ea typeface="Bahnschrift SemiBold" pitchFamily="34" charset="-122"/>
                <a:cs typeface="Bahnschrift SemiBold" pitchFamily="34" charset="-120"/>
              </a:rPr>
              <a:t>No containment without a human</a:t>
            </a:r>
            <a:endParaRPr lang="en-US" sz="2600" dirty="0"/>
          </a:p>
        </p:txBody>
      </p:sp>
      <p:sp>
        <p:nvSpPr>
          <p:cNvPr id="17" name="Text 14"/>
          <p:cNvSpPr/>
          <p:nvPr/>
        </p:nvSpPr>
        <p:spPr>
          <a:xfrm>
            <a:off x="6629400" y="2788920"/>
            <a:ext cx="4480560" cy="822960"/>
          </a:xfrm>
          <a:prstGeom prst="rect">
            <a:avLst/>
          </a:prstGeom>
          <a:noFill/>
          <a:ln/>
        </p:spPr>
        <p:txBody>
          <a:bodyPr wrap="square" lIns="0" tIns="0" rIns="0" bIns="0" rtlCol="0" anchor="t"/>
          <a:lstStyle/>
          <a:p>
            <a:pPr algn="l" indent="0" marL="0">
              <a:lnSpc>
                <a:spcPts val="2000"/>
              </a:lnSpc>
              <a:buNone/>
            </a:pPr>
            <a:r>
              <a:rPr lang="en-US" sz="1400" dirty="0">
                <a:solidFill>
                  <a:srgbClr val="D4D4D8"/>
                </a:solidFill>
                <a:latin typeface="Segoe UI" pitchFamily="34" charset="0"/>
                <a:ea typeface="Segoe UI" pitchFamily="34" charset="-122"/>
                <a:cs typeface="Segoe UI" pitchFamily="34" charset="-120"/>
              </a:rPr>
              <a:t>Firewall blocks and host isolation are drafted, never executed. 0% unsafe actions measured.</a:t>
            </a:r>
            <a:endParaRPr lang="en-US" sz="1400" dirty="0"/>
          </a:p>
        </p:txBody>
      </p:sp>
      <p:sp>
        <p:nvSpPr>
          <p:cNvPr id="18" name="Shape 15"/>
          <p:cNvSpPr/>
          <p:nvPr/>
        </p:nvSpPr>
        <p:spPr>
          <a:xfrm>
            <a:off x="6309360" y="3931920"/>
            <a:ext cx="5148072" cy="2148840"/>
          </a:xfrm>
          <a:prstGeom prst="roundRect">
            <a:avLst>
              <a:gd name="adj" fmla="val 3404"/>
            </a:avLst>
          </a:prstGeom>
          <a:solidFill>
            <a:srgbClr val="E6F2ED"/>
          </a:solidFill>
          <a:ln/>
        </p:spPr>
      </p:sp>
      <p:sp>
        <p:nvSpPr>
          <p:cNvPr id="19" name="Text 16"/>
          <p:cNvSpPr/>
          <p:nvPr/>
        </p:nvSpPr>
        <p:spPr>
          <a:xfrm>
            <a:off x="6629400" y="4160520"/>
            <a:ext cx="4114800" cy="365760"/>
          </a:xfrm>
          <a:prstGeom prst="rect">
            <a:avLst/>
          </a:prstGeom>
          <a:noFill/>
          <a:ln/>
        </p:spPr>
        <p:txBody>
          <a:bodyPr wrap="square" lIns="0" tIns="0" rIns="0" bIns="0" rtlCol="0" anchor="t"/>
          <a:lstStyle/>
          <a:p>
            <a:pPr algn="l" indent="0" marL="0">
              <a:lnSpc>
                <a:spcPts val="2200"/>
              </a:lnSpc>
              <a:buNone/>
            </a:pPr>
            <a:r>
              <a:rPr lang="en-US" sz="1700" dirty="0">
                <a:solidFill>
                  <a:srgbClr val="047857"/>
                </a:solidFill>
                <a:latin typeface="Bahnschrift SemiBold" pitchFamily="34" charset="0"/>
                <a:ea typeface="Bahnschrift SemiBold" pitchFamily="34" charset="-122"/>
                <a:cs typeface="Bahnschrift SemiBold" pitchFamily="34" charset="-120"/>
              </a:rPr>
              <a:t>Feedback loop</a:t>
            </a:r>
            <a:endParaRPr lang="en-US" sz="1700" dirty="0"/>
          </a:p>
        </p:txBody>
      </p:sp>
      <p:sp>
        <p:nvSpPr>
          <p:cNvPr id="20" name="Text 17"/>
          <p:cNvSpPr/>
          <p:nvPr/>
        </p:nvSpPr>
        <p:spPr>
          <a:xfrm>
            <a:off x="6629400" y="4617720"/>
            <a:ext cx="4526280" cy="731520"/>
          </a:xfrm>
          <a:prstGeom prst="rect">
            <a:avLst/>
          </a:prstGeom>
          <a:noFill/>
          <a:ln/>
        </p:spPr>
        <p:txBody>
          <a:bodyPr wrap="square" lIns="0" tIns="0" rIns="0" bIns="0" rtlCol="0" anchor="t"/>
          <a:lstStyle/>
          <a:p>
            <a:pPr algn="l" indent="0" marL="0">
              <a:lnSpc>
                <a:spcPts val="2200"/>
              </a:lnSpc>
              <a:buNone/>
            </a:pPr>
            <a:r>
              <a:rPr lang="en-US" sz="1600" dirty="0">
                <a:solidFill>
                  <a:srgbClr val="18181B"/>
                </a:solidFill>
                <a:latin typeface="Bahnschrift SemiBold" pitchFamily="34" charset="0"/>
                <a:ea typeface="Bahnschrift SemiBold" pitchFamily="34" charset="-122"/>
                <a:cs typeface="Bahnschrift SemiBold" pitchFamily="34" charset="-120"/>
              </a:rPr>
              <a:t>Analyst verdict  →  re-embed in Qdrant  →  retrain on drift</a:t>
            </a:r>
            <a:endParaRPr lang="en-US" sz="1600" dirty="0"/>
          </a:p>
        </p:txBody>
      </p:sp>
      <p:sp>
        <p:nvSpPr>
          <p:cNvPr id="21" name="Text 18"/>
          <p:cNvSpPr/>
          <p:nvPr/>
        </p:nvSpPr>
        <p:spPr>
          <a:xfrm>
            <a:off x="6629400" y="5440680"/>
            <a:ext cx="4526280" cy="457200"/>
          </a:xfrm>
          <a:prstGeom prst="rect">
            <a:avLst/>
          </a:prstGeom>
          <a:noFill/>
          <a:ln/>
        </p:spPr>
        <p:txBody>
          <a:bodyPr wrap="square" lIns="0" tIns="0" rIns="0" bIns="0" rtlCol="0" anchor="t"/>
          <a:lstStyle/>
          <a:p>
            <a:pPr algn="l" indent="0" marL="0">
              <a:lnSpc>
                <a:spcPts val="1800"/>
              </a:lnSpc>
              <a:buNone/>
            </a:pPr>
            <a:r>
              <a:rPr lang="en-US" sz="1300" dirty="0">
                <a:solidFill>
                  <a:srgbClr val="52525B"/>
                </a:solidFill>
                <a:latin typeface="Segoe UI" pitchFamily="34" charset="0"/>
                <a:ea typeface="Segoe UI" pitchFamily="34" charset="-122"/>
                <a:cs typeface="Segoe UI" pitchFamily="34" charset="-120"/>
              </a:rPr>
              <a:t>Every request is traced end to end with a trace ID.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566928"/>
            <a:ext cx="10698480" cy="731520"/>
          </a:xfrm>
          <a:prstGeom prst="rect">
            <a:avLst/>
          </a:prstGeom>
          <a:noFill/>
          <a:ln/>
        </p:spPr>
        <p:txBody>
          <a:bodyPr wrap="square" lIns="0" tIns="0" rIns="0" bIns="0" rtlCol="0" anchor="t"/>
          <a:lstStyle/>
          <a:p>
            <a:pPr algn="l" indent="0" marL="0">
              <a:lnSpc>
                <a:spcPts val="3900"/>
              </a:lnSpc>
              <a:buNone/>
            </a:pPr>
            <a:r>
              <a:rPr lang="en-US" sz="3400" spc="-50" kern="0" dirty="0">
                <a:solidFill>
                  <a:srgbClr val="18181B"/>
                </a:solidFill>
                <a:latin typeface="Bahnschrift SemiBold" pitchFamily="34" charset="0"/>
                <a:ea typeface="Bahnschrift SemiBold" pitchFamily="34" charset="-122"/>
                <a:cs typeface="Bahnschrift SemiBold" pitchFamily="34" charset="-120"/>
              </a:rPr>
              <a:t>Measured on CIC-IDS2017</a:t>
            </a:r>
            <a:endParaRPr lang="en-US" sz="3400" dirty="0"/>
          </a:p>
        </p:txBody>
      </p:sp>
      <p:sp>
        <p:nvSpPr>
          <p:cNvPr id="3" name="Text 1"/>
          <p:cNvSpPr/>
          <p:nvPr/>
        </p:nvSpPr>
        <p:spPr>
          <a:xfrm>
            <a:off x="731520" y="6400800"/>
            <a:ext cx="3657600" cy="228600"/>
          </a:xfrm>
          <a:prstGeom prst="rect">
            <a:avLst/>
          </a:prstGeom>
          <a:noFill/>
          <a:ln/>
        </p:spPr>
        <p:txBody>
          <a:bodyPr wrap="square" lIns="0" tIns="0" rIns="0" bIns="0" rtlCol="0" anchor="t"/>
          <a:lstStyle/>
          <a:p>
            <a:pPr algn="l" indent="0" marL="0">
              <a:lnSpc>
                <a:spcPts val="1300"/>
              </a:lnSpc>
              <a:buNone/>
            </a:pPr>
            <a:r>
              <a:rPr lang="en-US" sz="1000" dirty="0">
                <a:solidFill>
                  <a:srgbClr val="52525B"/>
                </a:solidFill>
                <a:latin typeface="Segoe UI" pitchFamily="34" charset="0"/>
                <a:ea typeface="Segoe UI" pitchFamily="34" charset="-122"/>
                <a:cs typeface="Segoe UI" pitchFamily="34" charset="-120"/>
              </a:rPr>
              <a:t>Incident Response Assistant</a:t>
            </a:r>
            <a:endParaRPr lang="en-US" sz="1000" dirty="0"/>
          </a:p>
        </p:txBody>
      </p:sp>
      <p:sp>
        <p:nvSpPr>
          <p:cNvPr id="4" name="Text 2"/>
          <p:cNvSpPr/>
          <p:nvPr/>
        </p:nvSpPr>
        <p:spPr>
          <a:xfrm>
            <a:off x="10725912" y="6400800"/>
            <a:ext cx="731520" cy="228600"/>
          </a:xfrm>
          <a:prstGeom prst="rect">
            <a:avLst/>
          </a:prstGeom>
          <a:noFill/>
          <a:ln/>
        </p:spPr>
        <p:txBody>
          <a:bodyPr wrap="square" lIns="0" tIns="0" rIns="0" bIns="0" rtlCol="0" anchor="t"/>
          <a:lstStyle/>
          <a:p>
            <a:pPr algn="r" indent="0" marL="0">
              <a:lnSpc>
                <a:spcPts val="1300"/>
              </a:lnSpc>
              <a:buNone/>
            </a:pPr>
            <a:r>
              <a:rPr lang="en-US" sz="1000" dirty="0">
                <a:solidFill>
                  <a:srgbClr val="52525B"/>
                </a:solidFill>
                <a:latin typeface="Segoe UI" pitchFamily="34" charset="0"/>
                <a:ea typeface="Segoe UI" pitchFamily="34" charset="-122"/>
                <a:cs typeface="Segoe UI" pitchFamily="34" charset="-120"/>
              </a:rPr>
              <a:t>9</a:t>
            </a:r>
            <a:endParaRPr lang="en-US" sz="1000" dirty="0"/>
          </a:p>
        </p:txBody>
      </p:sp>
      <p:sp>
        <p:nvSpPr>
          <p:cNvPr id="6" name="Text 3"/>
          <p:cNvSpPr/>
          <p:nvPr/>
        </p:nvSpPr>
        <p:spPr>
          <a:xfrm>
            <a:off x="731520" y="1737360"/>
            <a:ext cx="5669280" cy="2011680"/>
          </a:xfrm>
          <a:prstGeom prst="rect">
            <a:avLst/>
          </a:prstGeom>
          <a:noFill/>
          <a:ln/>
        </p:spPr>
        <p:txBody>
          <a:bodyPr wrap="square" lIns="0" tIns="0" rIns="0" bIns="0" rtlCol="0" anchor="t"/>
          <a:lstStyle/>
          <a:p>
            <a:pPr algn="l" indent="0" marL="0">
              <a:lnSpc>
                <a:spcPts val="12000"/>
              </a:lnSpc>
              <a:buNone/>
            </a:pPr>
            <a:r>
              <a:rPr lang="en-US" sz="12000" spc="-400" kern="0" dirty="0">
                <a:solidFill>
                  <a:srgbClr val="047857"/>
                </a:solidFill>
                <a:latin typeface="Bahnschrift SemiBold" pitchFamily="34" charset="0"/>
                <a:ea typeface="Bahnschrift SemiBold" pitchFamily="34" charset="-122"/>
                <a:cs typeface="Bahnschrift SemiBold" pitchFamily="34" charset="-120"/>
              </a:rPr>
              <a:t>99.0%</a:t>
            </a:r>
            <a:endParaRPr lang="en-US" sz="12000" dirty="0"/>
          </a:p>
        </p:txBody>
      </p:sp>
      <p:sp>
        <p:nvSpPr>
          <p:cNvPr id="7" name="Text 4"/>
          <p:cNvSpPr/>
          <p:nvPr/>
        </p:nvSpPr>
        <p:spPr>
          <a:xfrm>
            <a:off x="731520" y="3794760"/>
            <a:ext cx="5486400" cy="365760"/>
          </a:xfrm>
          <a:prstGeom prst="rect">
            <a:avLst/>
          </a:prstGeom>
          <a:noFill/>
          <a:ln/>
        </p:spPr>
        <p:txBody>
          <a:bodyPr wrap="square" lIns="0" tIns="0" rIns="0" bIns="0" rtlCol="0" anchor="t"/>
          <a:lstStyle/>
          <a:p>
            <a:pPr algn="l" indent="0" marL="0">
              <a:lnSpc>
                <a:spcPts val="2300"/>
              </a:lnSpc>
              <a:buNone/>
            </a:pPr>
            <a:r>
              <a:rPr lang="en-US" sz="1800" dirty="0">
                <a:solidFill>
                  <a:srgbClr val="18181B"/>
                </a:solidFill>
                <a:latin typeface="Segoe UI" pitchFamily="34" charset="0"/>
                <a:ea typeface="Segoe UI" pitchFamily="34" charset="-122"/>
                <a:cs typeface="Segoe UI" pitchFamily="34" charset="-120"/>
              </a:rPr>
              <a:t>attack classifier accuracy</a:t>
            </a:r>
            <a:endParaRPr lang="en-US" sz="1800" dirty="0"/>
          </a:p>
        </p:txBody>
      </p:sp>
      <p:sp>
        <p:nvSpPr>
          <p:cNvPr id="8" name="Text 5"/>
          <p:cNvSpPr/>
          <p:nvPr/>
        </p:nvSpPr>
        <p:spPr>
          <a:xfrm>
            <a:off x="731520" y="4206240"/>
            <a:ext cx="5303520" cy="731520"/>
          </a:xfrm>
          <a:prstGeom prst="rect">
            <a:avLst/>
          </a:prstGeom>
          <a:noFill/>
          <a:ln/>
        </p:spPr>
        <p:txBody>
          <a:bodyPr wrap="square" lIns="0" tIns="0" rIns="0" bIns="0" rtlCol="0" anchor="t"/>
          <a:lstStyle/>
          <a:p>
            <a:pPr algn="l" indent="0" marL="0">
              <a:lnSpc>
                <a:spcPts val="2000"/>
              </a:lnSpc>
              <a:buNone/>
            </a:pPr>
            <a:r>
              <a:rPr lang="en-US" sz="1400" dirty="0">
                <a:solidFill>
                  <a:srgbClr val="52525B"/>
                </a:solidFill>
                <a:latin typeface="Segoe UI" pitchFamily="34" charset="0"/>
                <a:ea typeface="Segoe UI" pitchFamily="34" charset="-122"/>
                <a:cs typeface="Segoe UI" pitchFamily="34" charset="-120"/>
              </a:rPr>
              <a:t>Macro-F1 0.952 across nine classes on unseen flows.</a:t>
            </a:r>
            <a:endParaRPr lang="en-US" sz="1400" dirty="0"/>
          </a:p>
        </p:txBody>
      </p:sp>
      <p:sp>
        <p:nvSpPr>
          <p:cNvPr id="9" name="Text 6"/>
          <p:cNvSpPr/>
          <p:nvPr/>
        </p:nvSpPr>
        <p:spPr>
          <a:xfrm>
            <a:off x="6949440" y="1737360"/>
            <a:ext cx="2286000" cy="822960"/>
          </a:xfrm>
          <a:prstGeom prst="rect">
            <a:avLst/>
          </a:prstGeom>
          <a:noFill/>
          <a:ln/>
        </p:spPr>
        <p:txBody>
          <a:bodyPr wrap="square" lIns="0" tIns="0" rIns="0" bIns="0" rtlCol="0" anchor="t"/>
          <a:lstStyle/>
          <a:p>
            <a:pPr algn="l" indent="0" marL="0">
              <a:lnSpc>
                <a:spcPts val="4800"/>
              </a:lnSpc>
              <a:buNone/>
            </a:pPr>
            <a:r>
              <a:rPr lang="en-US" sz="4800" spc="-100" kern="0" dirty="0">
                <a:solidFill>
                  <a:srgbClr val="18181B"/>
                </a:solidFill>
                <a:latin typeface="Bahnschrift SemiBold" pitchFamily="34" charset="0"/>
                <a:ea typeface="Bahnschrift SemiBold" pitchFamily="34" charset="-122"/>
                <a:cs typeface="Bahnschrift SemiBold" pitchFamily="34" charset="-120"/>
              </a:rPr>
              <a:t>0.997</a:t>
            </a:r>
            <a:endParaRPr lang="en-US" sz="4800" dirty="0"/>
          </a:p>
        </p:txBody>
      </p:sp>
      <p:sp>
        <p:nvSpPr>
          <p:cNvPr id="10" name="Text 7"/>
          <p:cNvSpPr/>
          <p:nvPr/>
        </p:nvSpPr>
        <p:spPr>
          <a:xfrm>
            <a:off x="9326880" y="1810512"/>
            <a:ext cx="2194560" cy="365760"/>
          </a:xfrm>
          <a:prstGeom prst="rect">
            <a:avLst/>
          </a:prstGeom>
          <a:noFill/>
          <a:ln/>
        </p:spPr>
        <p:txBody>
          <a:bodyPr wrap="square" lIns="0" tIns="0" rIns="0" bIns="0" rtlCol="0" anchor="t"/>
          <a:lstStyle/>
          <a:p>
            <a:pPr algn="l" indent="0" marL="0">
              <a:lnSpc>
                <a:spcPts val="2100"/>
              </a:lnSpc>
              <a:buNone/>
            </a:pPr>
            <a:r>
              <a:rPr lang="en-US" sz="1600" dirty="0">
                <a:solidFill>
                  <a:srgbClr val="18181B"/>
                </a:solidFill>
                <a:latin typeface="Bahnschrift SemiBold" pitchFamily="34" charset="0"/>
                <a:ea typeface="Bahnschrift SemiBold" pitchFamily="34" charset="-122"/>
                <a:cs typeface="Bahnschrift SemiBold" pitchFamily="34" charset="-120"/>
              </a:rPr>
              <a:t>intrusion ROC-AUC</a:t>
            </a:r>
            <a:endParaRPr lang="en-US" sz="1600" dirty="0"/>
          </a:p>
        </p:txBody>
      </p:sp>
      <p:sp>
        <p:nvSpPr>
          <p:cNvPr id="11" name="Text 8"/>
          <p:cNvSpPr/>
          <p:nvPr/>
        </p:nvSpPr>
        <p:spPr>
          <a:xfrm>
            <a:off x="9326880" y="2194560"/>
            <a:ext cx="2194560" cy="731520"/>
          </a:xfrm>
          <a:prstGeom prst="rect">
            <a:avLst/>
          </a:prstGeom>
          <a:noFill/>
          <a:ln/>
        </p:spPr>
        <p:txBody>
          <a:bodyPr wrap="square" lIns="0" tIns="0" rIns="0" bIns="0" rtlCol="0" anchor="t"/>
          <a:lstStyle/>
          <a:p>
            <a:pPr algn="l" indent="0" marL="0">
              <a:lnSpc>
                <a:spcPts val="1700"/>
              </a:lnSpc>
              <a:buNone/>
            </a:pPr>
            <a:r>
              <a:rPr lang="en-US" sz="1200" dirty="0">
                <a:solidFill>
                  <a:srgbClr val="52525B"/>
                </a:solidFill>
                <a:latin typeface="Segoe UI" pitchFamily="34" charset="0"/>
                <a:ea typeface="Segoe UI" pitchFamily="34" charset="-122"/>
                <a:cs typeface="Segoe UI" pitchFamily="34" charset="-120"/>
              </a:rPr>
              <a:t>86.6% detection at 1% false positives</a:t>
            </a:r>
            <a:endParaRPr lang="en-US" sz="1200" dirty="0"/>
          </a:p>
        </p:txBody>
      </p:sp>
      <p:sp>
        <p:nvSpPr>
          <p:cNvPr id="12" name="Text 9"/>
          <p:cNvSpPr/>
          <p:nvPr/>
        </p:nvSpPr>
        <p:spPr>
          <a:xfrm>
            <a:off x="6949440" y="3246120"/>
            <a:ext cx="2286000" cy="822960"/>
          </a:xfrm>
          <a:prstGeom prst="rect">
            <a:avLst/>
          </a:prstGeom>
          <a:noFill/>
          <a:ln/>
        </p:spPr>
        <p:txBody>
          <a:bodyPr wrap="square" lIns="0" tIns="0" rIns="0" bIns="0" rtlCol="0" anchor="t"/>
          <a:lstStyle/>
          <a:p>
            <a:pPr algn="l" indent="0" marL="0">
              <a:lnSpc>
                <a:spcPts val="4800"/>
              </a:lnSpc>
              <a:buNone/>
            </a:pPr>
            <a:r>
              <a:rPr lang="en-US" sz="4800" spc="-100" kern="0" dirty="0">
                <a:solidFill>
                  <a:srgbClr val="18181B"/>
                </a:solidFill>
                <a:latin typeface="Bahnschrift SemiBold" pitchFamily="34" charset="0"/>
                <a:ea typeface="Bahnschrift SemiBold" pitchFamily="34" charset="-122"/>
                <a:cs typeface="Bahnschrift SemiBold" pitchFamily="34" charset="-120"/>
              </a:rPr>
              <a:t>98.4%</a:t>
            </a:r>
            <a:endParaRPr lang="en-US" sz="4800" dirty="0"/>
          </a:p>
        </p:txBody>
      </p:sp>
      <p:sp>
        <p:nvSpPr>
          <p:cNvPr id="13" name="Text 10"/>
          <p:cNvSpPr/>
          <p:nvPr/>
        </p:nvSpPr>
        <p:spPr>
          <a:xfrm>
            <a:off x="9326880" y="3319272"/>
            <a:ext cx="2194560" cy="365760"/>
          </a:xfrm>
          <a:prstGeom prst="rect">
            <a:avLst/>
          </a:prstGeom>
          <a:noFill/>
          <a:ln/>
        </p:spPr>
        <p:txBody>
          <a:bodyPr wrap="square" lIns="0" tIns="0" rIns="0" bIns="0" rtlCol="0" anchor="t"/>
          <a:lstStyle/>
          <a:p>
            <a:pPr algn="l" indent="0" marL="0">
              <a:lnSpc>
                <a:spcPts val="2100"/>
              </a:lnSpc>
              <a:buNone/>
            </a:pPr>
            <a:r>
              <a:rPr lang="en-US" sz="1600" dirty="0">
                <a:solidFill>
                  <a:srgbClr val="18181B"/>
                </a:solidFill>
                <a:latin typeface="Bahnschrift SemiBold" pitchFamily="34" charset="0"/>
                <a:ea typeface="Bahnschrift SemiBold" pitchFamily="34" charset="-122"/>
                <a:cs typeface="Bahnschrift SemiBold" pitchFamily="34" charset="-120"/>
              </a:rPr>
              <a:t>retrieval Precision@1</a:t>
            </a:r>
            <a:endParaRPr lang="en-US" sz="1600" dirty="0"/>
          </a:p>
        </p:txBody>
      </p:sp>
      <p:sp>
        <p:nvSpPr>
          <p:cNvPr id="14" name="Text 11"/>
          <p:cNvSpPr/>
          <p:nvPr/>
        </p:nvSpPr>
        <p:spPr>
          <a:xfrm>
            <a:off x="9326880" y="3703320"/>
            <a:ext cx="2194560" cy="731520"/>
          </a:xfrm>
          <a:prstGeom prst="rect">
            <a:avLst/>
          </a:prstGeom>
          <a:noFill/>
          <a:ln/>
        </p:spPr>
        <p:txBody>
          <a:bodyPr wrap="square" lIns="0" tIns="0" rIns="0" bIns="0" rtlCol="0" anchor="t"/>
          <a:lstStyle/>
          <a:p>
            <a:pPr algn="l" indent="0" marL="0">
              <a:lnSpc>
                <a:spcPts val="1700"/>
              </a:lnSpc>
              <a:buNone/>
            </a:pPr>
            <a:r>
              <a:rPr lang="en-US" sz="1200" dirty="0">
                <a:solidFill>
                  <a:srgbClr val="52525B"/>
                </a:solidFill>
                <a:latin typeface="Segoe UI" pitchFamily="34" charset="0"/>
                <a:ea typeface="Segoe UI" pitchFamily="34" charset="-122"/>
                <a:cs typeface="Segoe UI" pitchFamily="34" charset="-120"/>
              </a:rPr>
              <a:t>Leave-one-out over 4,235 incidents</a:t>
            </a:r>
            <a:endParaRPr lang="en-US" sz="1200" dirty="0"/>
          </a:p>
        </p:txBody>
      </p:sp>
      <p:sp>
        <p:nvSpPr>
          <p:cNvPr id="15" name="Text 12"/>
          <p:cNvSpPr/>
          <p:nvPr/>
        </p:nvSpPr>
        <p:spPr>
          <a:xfrm>
            <a:off x="6949440" y="4754880"/>
            <a:ext cx="2286000" cy="822960"/>
          </a:xfrm>
          <a:prstGeom prst="rect">
            <a:avLst/>
          </a:prstGeom>
          <a:noFill/>
          <a:ln/>
        </p:spPr>
        <p:txBody>
          <a:bodyPr wrap="square" lIns="0" tIns="0" rIns="0" bIns="0" rtlCol="0" anchor="t"/>
          <a:lstStyle/>
          <a:p>
            <a:pPr algn="l" indent="0" marL="0">
              <a:lnSpc>
                <a:spcPts val="4800"/>
              </a:lnSpc>
              <a:buNone/>
            </a:pPr>
            <a:r>
              <a:rPr lang="en-US" sz="4800" spc="-100" kern="0" dirty="0">
                <a:solidFill>
                  <a:srgbClr val="18181B"/>
                </a:solidFill>
                <a:latin typeface="Bahnschrift SemiBold" pitchFamily="34" charset="0"/>
                <a:ea typeface="Bahnschrift SemiBold" pitchFamily="34" charset="-122"/>
                <a:cs typeface="Bahnschrift SemiBold" pitchFamily="34" charset="-120"/>
              </a:rPr>
              <a:t>0%</a:t>
            </a:r>
            <a:endParaRPr lang="en-US" sz="4800" dirty="0"/>
          </a:p>
        </p:txBody>
      </p:sp>
      <p:sp>
        <p:nvSpPr>
          <p:cNvPr id="16" name="Text 13"/>
          <p:cNvSpPr/>
          <p:nvPr/>
        </p:nvSpPr>
        <p:spPr>
          <a:xfrm>
            <a:off x="9326880" y="4828032"/>
            <a:ext cx="2194560" cy="365760"/>
          </a:xfrm>
          <a:prstGeom prst="rect">
            <a:avLst/>
          </a:prstGeom>
          <a:noFill/>
          <a:ln/>
        </p:spPr>
        <p:txBody>
          <a:bodyPr wrap="square" lIns="0" tIns="0" rIns="0" bIns="0" rtlCol="0" anchor="t"/>
          <a:lstStyle/>
          <a:p>
            <a:pPr algn="l" indent="0" marL="0">
              <a:lnSpc>
                <a:spcPts val="2100"/>
              </a:lnSpc>
              <a:buNone/>
            </a:pPr>
            <a:r>
              <a:rPr lang="en-US" sz="1600" dirty="0">
                <a:solidFill>
                  <a:srgbClr val="18181B"/>
                </a:solidFill>
                <a:latin typeface="Bahnschrift SemiBold" pitchFamily="34" charset="0"/>
                <a:ea typeface="Bahnschrift SemiBold" pitchFamily="34" charset="-122"/>
                <a:cs typeface="Bahnschrift SemiBold" pitchFamily="34" charset="-120"/>
              </a:rPr>
              <a:t>hallucinations</a:t>
            </a:r>
            <a:endParaRPr lang="en-US" sz="1600" dirty="0"/>
          </a:p>
        </p:txBody>
      </p:sp>
      <p:sp>
        <p:nvSpPr>
          <p:cNvPr id="17" name="Text 14"/>
          <p:cNvSpPr/>
          <p:nvPr/>
        </p:nvSpPr>
        <p:spPr>
          <a:xfrm>
            <a:off x="9326880" y="5212080"/>
            <a:ext cx="2194560" cy="731520"/>
          </a:xfrm>
          <a:prstGeom prst="rect">
            <a:avLst/>
          </a:prstGeom>
          <a:noFill/>
          <a:ln/>
        </p:spPr>
        <p:txBody>
          <a:bodyPr wrap="square" lIns="0" tIns="0" rIns="0" bIns="0" rtlCol="0" anchor="t"/>
          <a:lstStyle/>
          <a:p>
            <a:pPr algn="l" indent="0" marL="0">
              <a:lnSpc>
                <a:spcPts val="1700"/>
              </a:lnSpc>
              <a:buNone/>
            </a:pPr>
            <a:r>
              <a:rPr lang="en-US" sz="1200" dirty="0">
                <a:solidFill>
                  <a:srgbClr val="52525B"/>
                </a:solidFill>
                <a:latin typeface="Segoe UI" pitchFamily="34" charset="0"/>
                <a:ea typeface="Segoe UI" pitchFamily="34" charset="-122"/>
                <a:cs typeface="Segoe UI" pitchFamily="34" charset="-120"/>
              </a:rPr>
              <a:t>Independent judge, 100% answer relevancy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566928"/>
            <a:ext cx="10698480" cy="731520"/>
          </a:xfrm>
          <a:prstGeom prst="rect">
            <a:avLst/>
          </a:prstGeom>
          <a:noFill/>
          <a:ln/>
        </p:spPr>
        <p:txBody>
          <a:bodyPr wrap="square" lIns="0" tIns="0" rIns="0" bIns="0" rtlCol="0" anchor="t"/>
          <a:lstStyle/>
          <a:p>
            <a:pPr algn="l" indent="0" marL="0">
              <a:lnSpc>
                <a:spcPts val="3900"/>
              </a:lnSpc>
              <a:buNone/>
            </a:pPr>
            <a:r>
              <a:rPr lang="en-US" sz="3400" spc="-50" kern="0" dirty="0">
                <a:solidFill>
                  <a:srgbClr val="18181B"/>
                </a:solidFill>
                <a:latin typeface="Bahnschrift SemiBold" pitchFamily="34" charset="0"/>
                <a:ea typeface="Bahnschrift SemiBold" pitchFamily="34" charset="-122"/>
                <a:cs typeface="Bahnschrift SemiBold" pitchFamily="34" charset="-120"/>
              </a:rPr>
              <a:t>Limits, and how to run it</a:t>
            </a:r>
            <a:endParaRPr lang="en-US" sz="3400" dirty="0"/>
          </a:p>
        </p:txBody>
      </p:sp>
      <p:sp>
        <p:nvSpPr>
          <p:cNvPr id="3" name="Text 1"/>
          <p:cNvSpPr/>
          <p:nvPr/>
        </p:nvSpPr>
        <p:spPr>
          <a:xfrm>
            <a:off x="731520" y="6400800"/>
            <a:ext cx="3657600" cy="228600"/>
          </a:xfrm>
          <a:prstGeom prst="rect">
            <a:avLst/>
          </a:prstGeom>
          <a:noFill/>
          <a:ln/>
        </p:spPr>
        <p:txBody>
          <a:bodyPr wrap="square" lIns="0" tIns="0" rIns="0" bIns="0" rtlCol="0" anchor="t"/>
          <a:lstStyle/>
          <a:p>
            <a:pPr algn="l" indent="0" marL="0">
              <a:lnSpc>
                <a:spcPts val="1300"/>
              </a:lnSpc>
              <a:buNone/>
            </a:pPr>
            <a:r>
              <a:rPr lang="en-US" sz="1000" dirty="0">
                <a:solidFill>
                  <a:srgbClr val="52525B"/>
                </a:solidFill>
                <a:latin typeface="Segoe UI" pitchFamily="34" charset="0"/>
                <a:ea typeface="Segoe UI" pitchFamily="34" charset="-122"/>
                <a:cs typeface="Segoe UI" pitchFamily="34" charset="-120"/>
              </a:rPr>
              <a:t>Incident Response Assistant</a:t>
            </a:r>
            <a:endParaRPr lang="en-US" sz="1000" dirty="0"/>
          </a:p>
        </p:txBody>
      </p:sp>
      <p:sp>
        <p:nvSpPr>
          <p:cNvPr id="4" name="Text 2"/>
          <p:cNvSpPr/>
          <p:nvPr/>
        </p:nvSpPr>
        <p:spPr>
          <a:xfrm>
            <a:off x="10725912" y="6400800"/>
            <a:ext cx="731520" cy="228600"/>
          </a:xfrm>
          <a:prstGeom prst="rect">
            <a:avLst/>
          </a:prstGeom>
          <a:noFill/>
          <a:ln/>
        </p:spPr>
        <p:txBody>
          <a:bodyPr wrap="square" lIns="0" tIns="0" rIns="0" bIns="0" rtlCol="0" anchor="t"/>
          <a:lstStyle/>
          <a:p>
            <a:pPr algn="r" indent="0" marL="0">
              <a:lnSpc>
                <a:spcPts val="1300"/>
              </a:lnSpc>
              <a:buNone/>
            </a:pPr>
            <a:r>
              <a:rPr lang="en-US" sz="1000" dirty="0">
                <a:solidFill>
                  <a:srgbClr val="52525B"/>
                </a:solidFill>
                <a:latin typeface="Segoe UI" pitchFamily="34" charset="0"/>
                <a:ea typeface="Segoe UI" pitchFamily="34" charset="-122"/>
                <a:cs typeface="Segoe UI" pitchFamily="34" charset="-120"/>
              </a:rPr>
              <a:t>10</a:t>
            </a:r>
            <a:endParaRPr lang="en-US" sz="1000" dirty="0"/>
          </a:p>
        </p:txBody>
      </p:sp>
      <p:sp>
        <p:nvSpPr>
          <p:cNvPr id="6" name="Text 3"/>
          <p:cNvSpPr/>
          <p:nvPr/>
        </p:nvSpPr>
        <p:spPr>
          <a:xfrm>
            <a:off x="731520" y="1600200"/>
            <a:ext cx="5029200" cy="365760"/>
          </a:xfrm>
          <a:prstGeom prst="rect">
            <a:avLst/>
          </a:prstGeom>
          <a:noFill/>
          <a:ln/>
        </p:spPr>
        <p:txBody>
          <a:bodyPr wrap="square" lIns="0" tIns="0" rIns="0" bIns="0" rtlCol="0" anchor="t"/>
          <a:lstStyle/>
          <a:p>
            <a:pPr algn="l" indent="0" marL="0">
              <a:lnSpc>
                <a:spcPts val="2200"/>
              </a:lnSpc>
              <a:buNone/>
            </a:pPr>
            <a:r>
              <a:rPr lang="en-US" sz="1700" dirty="0">
                <a:solidFill>
                  <a:srgbClr val="047857"/>
                </a:solidFill>
                <a:latin typeface="Bahnschrift SemiBold" pitchFamily="34" charset="0"/>
                <a:ea typeface="Bahnschrift SemiBold" pitchFamily="34" charset="-122"/>
                <a:cs typeface="Bahnschrift SemiBold" pitchFamily="34" charset="-120"/>
              </a:rPr>
              <a:t>Known limits</a:t>
            </a:r>
            <a:endParaRPr lang="en-US" sz="1700" dirty="0"/>
          </a:p>
        </p:txBody>
      </p:sp>
      <p:sp>
        <p:nvSpPr>
          <p:cNvPr id="7" name="Text 4"/>
          <p:cNvSpPr/>
          <p:nvPr/>
        </p:nvSpPr>
        <p:spPr>
          <a:xfrm>
            <a:off x="731520" y="2148840"/>
            <a:ext cx="5120640" cy="365760"/>
          </a:xfrm>
          <a:prstGeom prst="rect">
            <a:avLst/>
          </a:prstGeom>
          <a:noFill/>
          <a:ln/>
        </p:spPr>
        <p:txBody>
          <a:bodyPr wrap="square" lIns="0" tIns="0" rIns="0" bIns="0" rtlCol="0" anchor="t"/>
          <a:lstStyle/>
          <a:p>
            <a:pPr algn="l" indent="0" marL="0">
              <a:lnSpc>
                <a:spcPts val="2600"/>
              </a:lnSpc>
              <a:buNone/>
            </a:pPr>
            <a:r>
              <a:rPr lang="en-US" sz="2000" dirty="0">
                <a:solidFill>
                  <a:srgbClr val="18181B"/>
                </a:solidFill>
                <a:latin typeface="Bahnschrift SemiBold" pitchFamily="34" charset="0"/>
                <a:ea typeface="Bahnschrift SemiBold" pitchFamily="34" charset="-122"/>
                <a:cs typeface="Bahnschrift SemiBold" pitchFamily="34" charset="-120"/>
              </a:rPr>
              <a:t>Rare classes</a:t>
            </a:r>
            <a:endParaRPr lang="en-US" sz="2000" dirty="0"/>
          </a:p>
        </p:txBody>
      </p:sp>
      <p:sp>
        <p:nvSpPr>
          <p:cNvPr id="8" name="Text 5"/>
          <p:cNvSpPr/>
          <p:nvPr/>
        </p:nvSpPr>
        <p:spPr>
          <a:xfrm>
            <a:off x="731520" y="2560320"/>
            <a:ext cx="5120640" cy="731520"/>
          </a:xfrm>
          <a:prstGeom prst="rect">
            <a:avLst/>
          </a:prstGeom>
          <a:noFill/>
          <a:ln/>
        </p:spPr>
        <p:txBody>
          <a:bodyPr wrap="square" lIns="0" tIns="0" rIns="0" bIns="0" rtlCol="0" anchor="t"/>
          <a:lstStyle/>
          <a:p>
            <a:pPr algn="l" indent="0" marL="0">
              <a:lnSpc>
                <a:spcPts val="2000"/>
              </a:lnSpc>
              <a:buNone/>
            </a:pPr>
            <a:r>
              <a:rPr lang="en-US" sz="1400" dirty="0">
                <a:solidFill>
                  <a:srgbClr val="52525B"/>
                </a:solidFill>
                <a:latin typeface="Segoe UI" pitchFamily="34" charset="0"/>
                <a:ea typeface="Segoe UI" pitchFamily="34" charset="-122"/>
                <a:cs typeface="Segoe UI" pitchFamily="34" charset="-120"/>
              </a:rPr>
              <a:t>Heartbleed has 11 flows and Infiltration 36, so policy floors guarantee escalation.</a:t>
            </a:r>
            <a:endParaRPr lang="en-US" sz="1400" dirty="0"/>
          </a:p>
        </p:txBody>
      </p:sp>
      <p:sp>
        <p:nvSpPr>
          <p:cNvPr id="9" name="Text 6"/>
          <p:cNvSpPr/>
          <p:nvPr/>
        </p:nvSpPr>
        <p:spPr>
          <a:xfrm>
            <a:off x="731520" y="3429000"/>
            <a:ext cx="5120640" cy="365760"/>
          </a:xfrm>
          <a:prstGeom prst="rect">
            <a:avLst/>
          </a:prstGeom>
          <a:noFill/>
          <a:ln/>
        </p:spPr>
        <p:txBody>
          <a:bodyPr wrap="square" lIns="0" tIns="0" rIns="0" bIns="0" rtlCol="0" anchor="t"/>
          <a:lstStyle/>
          <a:p>
            <a:pPr algn="l" indent="0" marL="0">
              <a:lnSpc>
                <a:spcPts val="2600"/>
              </a:lnSpc>
              <a:buNone/>
            </a:pPr>
            <a:r>
              <a:rPr lang="en-US" sz="2000" dirty="0">
                <a:solidFill>
                  <a:srgbClr val="18181B"/>
                </a:solidFill>
                <a:latin typeface="Bahnschrift SemiBold" pitchFamily="34" charset="0"/>
                <a:ea typeface="Bahnschrift SemiBold" pitchFamily="34" charset="-122"/>
                <a:cs typeface="Bahnschrift SemiBold" pitchFamily="34" charset="-120"/>
              </a:rPr>
              <a:t>Embedded Qdrant</a:t>
            </a:r>
            <a:endParaRPr lang="en-US" sz="2000" dirty="0"/>
          </a:p>
        </p:txBody>
      </p:sp>
      <p:sp>
        <p:nvSpPr>
          <p:cNvPr id="10" name="Text 7"/>
          <p:cNvSpPr/>
          <p:nvPr/>
        </p:nvSpPr>
        <p:spPr>
          <a:xfrm>
            <a:off x="731520" y="3840480"/>
            <a:ext cx="5120640" cy="731520"/>
          </a:xfrm>
          <a:prstGeom prst="rect">
            <a:avLst/>
          </a:prstGeom>
          <a:noFill/>
          <a:ln/>
        </p:spPr>
        <p:txBody>
          <a:bodyPr wrap="square" lIns="0" tIns="0" rIns="0" bIns="0" rtlCol="0" anchor="t"/>
          <a:lstStyle/>
          <a:p>
            <a:pPr algn="l" indent="0" marL="0">
              <a:lnSpc>
                <a:spcPts val="2000"/>
              </a:lnSpc>
              <a:buNone/>
            </a:pPr>
            <a:r>
              <a:rPr lang="en-US" sz="1400" dirty="0">
                <a:solidFill>
                  <a:srgbClr val="52525B"/>
                </a:solidFill>
                <a:latin typeface="Segoe UI" pitchFamily="34" charset="0"/>
                <a:ea typeface="Segoe UI" pitchFamily="34" charset="-122"/>
                <a:cs typeface="Segoe UI" pitchFamily="34" charset="-120"/>
              </a:rPr>
              <a:t>Single process. Set QDRANT_URL for a distributed cluster.</a:t>
            </a:r>
            <a:endParaRPr lang="en-US" sz="1400" dirty="0"/>
          </a:p>
        </p:txBody>
      </p:sp>
      <p:sp>
        <p:nvSpPr>
          <p:cNvPr id="11" name="Text 8"/>
          <p:cNvSpPr/>
          <p:nvPr/>
        </p:nvSpPr>
        <p:spPr>
          <a:xfrm>
            <a:off x="731520" y="4709160"/>
            <a:ext cx="5120640" cy="365760"/>
          </a:xfrm>
          <a:prstGeom prst="rect">
            <a:avLst/>
          </a:prstGeom>
          <a:noFill/>
          <a:ln/>
        </p:spPr>
        <p:txBody>
          <a:bodyPr wrap="square" lIns="0" tIns="0" rIns="0" bIns="0" rtlCol="0" anchor="t"/>
          <a:lstStyle/>
          <a:p>
            <a:pPr algn="l" indent="0" marL="0">
              <a:lnSpc>
                <a:spcPts val="2600"/>
              </a:lnSpc>
              <a:buNone/>
            </a:pPr>
            <a:r>
              <a:rPr lang="en-US" sz="2000" dirty="0">
                <a:solidFill>
                  <a:srgbClr val="18181B"/>
                </a:solidFill>
                <a:latin typeface="Bahnschrift SemiBold" pitchFamily="34" charset="0"/>
                <a:ea typeface="Bahnschrift SemiBold" pitchFamily="34" charset="-122"/>
                <a:cs typeface="Bahnschrift SemiBold" pitchFamily="34" charset="-120"/>
              </a:rPr>
              <a:t>Judge scores</a:t>
            </a:r>
            <a:endParaRPr lang="en-US" sz="2000" dirty="0"/>
          </a:p>
        </p:txBody>
      </p:sp>
      <p:sp>
        <p:nvSpPr>
          <p:cNvPr id="12" name="Text 9"/>
          <p:cNvSpPr/>
          <p:nvPr/>
        </p:nvSpPr>
        <p:spPr>
          <a:xfrm>
            <a:off x="731520" y="5120640"/>
            <a:ext cx="5120640" cy="731520"/>
          </a:xfrm>
          <a:prstGeom prst="rect">
            <a:avLst/>
          </a:prstGeom>
          <a:noFill/>
          <a:ln/>
        </p:spPr>
        <p:txBody>
          <a:bodyPr wrap="square" lIns="0" tIns="0" rIns="0" bIns="0" rtlCol="0" anchor="t"/>
          <a:lstStyle/>
          <a:p>
            <a:pPr algn="l" indent="0" marL="0">
              <a:lnSpc>
                <a:spcPts val="2000"/>
              </a:lnSpc>
              <a:buNone/>
            </a:pPr>
            <a:r>
              <a:rPr lang="en-US" sz="1400" dirty="0">
                <a:solidFill>
                  <a:srgbClr val="52525B"/>
                </a:solidFill>
                <a:latin typeface="Segoe UI" pitchFamily="34" charset="0"/>
                <a:ea typeface="Segoe UI" pitchFamily="34" charset="-122"/>
                <a:cs typeface="Segoe UI" pitchFamily="34" charset="-120"/>
              </a:rPr>
              <a:t>LLM judges are signals, backed by deterministic guardrail tests.</a:t>
            </a:r>
            <a:endParaRPr lang="en-US" sz="1400" dirty="0"/>
          </a:p>
        </p:txBody>
      </p:sp>
      <p:sp>
        <p:nvSpPr>
          <p:cNvPr id="13" name="Shape 10"/>
          <p:cNvSpPr/>
          <p:nvPr/>
        </p:nvSpPr>
        <p:spPr>
          <a:xfrm>
            <a:off x="6492240" y="1600200"/>
            <a:ext cx="4965192" cy="4480560"/>
          </a:xfrm>
          <a:prstGeom prst="roundRect">
            <a:avLst>
              <a:gd name="adj" fmla="val 1633"/>
            </a:avLst>
          </a:prstGeom>
          <a:solidFill>
            <a:srgbClr val="E6F2ED"/>
          </a:solidFill>
          <a:ln/>
        </p:spPr>
      </p:sp>
      <p:sp>
        <p:nvSpPr>
          <p:cNvPr id="14" name="Text 11"/>
          <p:cNvSpPr/>
          <p:nvPr/>
        </p:nvSpPr>
        <p:spPr>
          <a:xfrm>
            <a:off x="6812280" y="1874520"/>
            <a:ext cx="4114800" cy="365760"/>
          </a:xfrm>
          <a:prstGeom prst="rect">
            <a:avLst/>
          </a:prstGeom>
          <a:noFill/>
          <a:ln/>
        </p:spPr>
        <p:txBody>
          <a:bodyPr wrap="square" lIns="0" tIns="0" rIns="0" bIns="0" rtlCol="0" anchor="t"/>
          <a:lstStyle/>
          <a:p>
            <a:pPr algn="l" indent="0" marL="0">
              <a:lnSpc>
                <a:spcPts val="2200"/>
              </a:lnSpc>
              <a:buNone/>
            </a:pPr>
            <a:r>
              <a:rPr lang="en-US" sz="1700" dirty="0">
                <a:solidFill>
                  <a:srgbClr val="047857"/>
                </a:solidFill>
                <a:latin typeface="Bahnschrift SemiBold" pitchFamily="34" charset="0"/>
                <a:ea typeface="Bahnschrift SemiBold" pitchFamily="34" charset="-122"/>
                <a:cs typeface="Bahnschrift SemiBold" pitchFamily="34" charset="-120"/>
              </a:rPr>
              <a:t>Run it</a:t>
            </a:r>
            <a:endParaRPr lang="en-US" sz="1700" dirty="0"/>
          </a:p>
        </p:txBody>
      </p:sp>
      <p:sp>
        <p:nvSpPr>
          <p:cNvPr id="15" name="Text 12"/>
          <p:cNvSpPr/>
          <p:nvPr/>
        </p:nvSpPr>
        <p:spPr>
          <a:xfrm>
            <a:off x="6812280" y="2377440"/>
            <a:ext cx="4297680" cy="1097280"/>
          </a:xfrm>
          <a:prstGeom prst="rect">
            <a:avLst/>
          </a:prstGeom>
          <a:noFill/>
          <a:ln/>
        </p:spPr>
        <p:txBody>
          <a:bodyPr wrap="square" lIns="0" tIns="0" rIns="0" bIns="0" rtlCol="0" anchor="t"/>
          <a:lstStyle/>
          <a:p>
            <a:pPr algn="l" indent="0" marL="0">
              <a:lnSpc>
                <a:spcPts val="3800"/>
              </a:lnSpc>
              <a:buNone/>
            </a:pPr>
            <a:r>
              <a:rPr lang="en-US" sz="2800" dirty="0">
                <a:solidFill>
                  <a:srgbClr val="18181B"/>
                </a:solidFill>
                <a:latin typeface="Consolas" pitchFamily="34" charset="0"/>
                <a:ea typeface="Consolas" pitchFamily="34" charset="-122"/>
                <a:cs typeface="Consolas" pitchFamily="34" charset="-120"/>
              </a:rPr>
              <a:t>setup.bat</a:t>
            </a:r>
            <a:endParaRPr lang="en-US" sz="2800" dirty="0"/>
          </a:p>
          <a:p>
            <a:pPr algn="l" indent="0" marL="0">
              <a:lnSpc>
                <a:spcPts val="3800"/>
              </a:lnSpc>
              <a:buNone/>
            </a:pPr>
            <a:r>
              <a:rPr lang="en-US" sz="2800" dirty="0">
                <a:solidFill>
                  <a:srgbClr val="18181B"/>
                </a:solidFill>
                <a:latin typeface="Consolas" pitchFamily="34" charset="0"/>
                <a:ea typeface="Consolas" pitchFamily="34" charset="-122"/>
                <a:cs typeface="Consolas" pitchFamily="34" charset="-120"/>
              </a:rPr>
              <a:t>start.bat</a:t>
            </a:r>
            <a:endParaRPr lang="en-US" sz="2800" dirty="0"/>
          </a:p>
        </p:txBody>
      </p:sp>
      <p:sp>
        <p:nvSpPr>
          <p:cNvPr id="16" name="Text 13"/>
          <p:cNvSpPr/>
          <p:nvPr/>
        </p:nvSpPr>
        <p:spPr>
          <a:xfrm>
            <a:off x="6812280" y="3657600"/>
            <a:ext cx="4297680" cy="822960"/>
          </a:xfrm>
          <a:prstGeom prst="rect">
            <a:avLst/>
          </a:prstGeom>
          <a:noFill/>
          <a:ln/>
        </p:spPr>
        <p:txBody>
          <a:bodyPr wrap="square" lIns="0" tIns="0" rIns="0" bIns="0" rtlCol="0" anchor="t"/>
          <a:lstStyle/>
          <a:p>
            <a:pPr algn="l" indent="0" marL="0">
              <a:lnSpc>
                <a:spcPts val="2000"/>
              </a:lnSpc>
              <a:buNone/>
            </a:pPr>
            <a:r>
              <a:rPr lang="en-US" sz="1400" dirty="0">
                <a:solidFill>
                  <a:srgbClr val="52525B"/>
                </a:solidFill>
                <a:latin typeface="Segoe UI" pitchFamily="34" charset="0"/>
                <a:ea typeface="Segoe UI" pitchFamily="34" charset="-122"/>
                <a:cs typeface="Segoe UI" pitchFamily="34" charset="-120"/>
              </a:rPr>
              <a:t>Run setup once to install everything, download CIC-IDS2017, train the models and build the index. Then start each day.</a:t>
            </a:r>
            <a:endParaRPr lang="en-US" sz="1400" dirty="0"/>
          </a:p>
        </p:txBody>
      </p:sp>
      <p:sp>
        <p:nvSpPr>
          <p:cNvPr id="17" name="Text 14"/>
          <p:cNvSpPr/>
          <p:nvPr/>
        </p:nvSpPr>
        <p:spPr>
          <a:xfrm>
            <a:off x="6812280" y="4754880"/>
            <a:ext cx="4297680" cy="822960"/>
          </a:xfrm>
          <a:prstGeom prst="rect">
            <a:avLst/>
          </a:prstGeom>
          <a:noFill/>
          <a:ln/>
        </p:spPr>
        <p:txBody>
          <a:bodyPr wrap="square" lIns="0" tIns="0" rIns="0" bIns="0" rtlCol="0" anchor="t"/>
          <a:lstStyle/>
          <a:p>
            <a:pPr algn="l" indent="0" marL="0">
              <a:lnSpc>
                <a:spcPts val="2000"/>
              </a:lnSpc>
              <a:buNone/>
            </a:pPr>
            <a:r>
              <a:rPr lang="en-US" sz="1400" dirty="0">
                <a:solidFill>
                  <a:srgbClr val="18181B"/>
                </a:solidFill>
                <a:latin typeface="Segoe UI" pitchFamily="34" charset="0"/>
                <a:ea typeface="Segoe UI" pitchFamily="34" charset="-122"/>
                <a:cs typeface="Segoe UI" pitchFamily="34" charset="-120"/>
              </a:rPr>
              <a:t>Open localhost:5173 and sign in as analyst, admin or viewer.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Incident Response Assistant: 10-minute review</dc:title>
  <dc:subject>PptxGenJS Presentation</dc:subject>
  <dc:creator>Project review</dc:creator>
  <cp:lastModifiedBy>Project review</cp:lastModifiedBy>
  <cp:revision>1</cp:revision>
  <dcterms:created xsi:type="dcterms:W3CDTF">2026-10-12T07:11:54Z</dcterms:created>
  <dcterms:modified xsi:type="dcterms:W3CDTF">2026-10-12T07:11:54Z</dcterms:modified>
</cp:coreProperties>
</file>